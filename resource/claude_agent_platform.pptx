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2E3D78">
              <a:alpha val="40000"/>
            </a:srgbClr>
          </a:solidFill>
          <a:ln w="12700">
            <a:solidFill>
              <a:srgbClr val="2E3D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4F9CF9">
              <a:alpha val="20000"/>
            </a:srgbClr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9CF9"/>
                </a:solidFill>
              </a:rPr>
              <a:t>PLATFORM BLUEPRINT  v0.1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플랫폼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AI 에이전트 팀을 구성하고, 요구사항만 입력하면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최적의 Sub-Agent 팀이 프로젝트 코드를 자동 생성합니다.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Claude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448056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Sub-Agents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448056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Agent 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448056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24316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4480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Agent SDK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프로젝트 개요 및 목적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0" y="1463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플랫폼의 배경, 핵심 가치, 지원 시나리오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52244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22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9522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Claude 지원 기술 검증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19522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Sub-Agent · Agent Teams · SDK · Hooks · MCP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8229600" cy="45720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414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시스템 아키텍처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0" y="2441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전체 레이어 구조 및 디렉터리 설계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30652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30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9306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Agent 팀 구성 로직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29306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오케스트레이터 기반 자동 팀 편성 및 병렬 실행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19856"/>
            <a:ext cx="8229600" cy="45720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핵심 플로우 상세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0" y="34198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요구사항 → 코드 생성 → 패키징 전체 흐름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09060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090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9090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관리 플랫폼 기능 정의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39090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에이전트 라이브러리 관리 · 프로젝트 관리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398264"/>
            <a:ext cx="8229600" cy="45720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CF9"/>
                </a:solidFill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3982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개발 로드맵 및 고려사항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0" y="43982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3-Phase 로드맵 · 보안 · 비용 전략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01 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 및 목적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206240" cy="329184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배경 및 목적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3A4A6B"/>
                </a:solidFill>
              </a:rPr>
              <a:t>사용자가 프로젝트 요구사항을 입력하면, 최적의 Claude Sub-Agent 팀이 자동으로 구성되어 병렬로 코드를 생성합니다.</a:t>
            </a: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endParaRPr lang="en-US" sz="12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3A4A6B"/>
                </a:solidFill>
              </a:rPr>
              <a:t>사람이 팀 편성을 수동으로 하지 않아도 AI가 요구사항을 분석하고, 적합한 전문 에이전트를 선발·실행하며, 결과물을 ZIP 또는 Git 형태로 제공합니다.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50876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4F9C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1508760"/>
            <a:ext cx="1828800" cy="25603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신규 구축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</a:rPr>
              <a:t>처음부터 서비스 개발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320040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C88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3200400"/>
            <a:ext cx="1828800" cy="256032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고도화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</a:rPr>
              <a:t>기능 추가 · 성능 개선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150876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C7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1508760"/>
            <a:ext cx="1828800" cy="25603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508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리팩토링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</a:rPr>
              <a:t>코드 품질 및 구조 개선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3200400"/>
            <a:ext cx="18288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8706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solidFill>
            <a:srgbClr val="F870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35661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44"/>
                </a:solidFill>
              </a:rPr>
              <a:t>빠른 프로토타입 검증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02  TECHNOLOGY VERIFICATION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지원 기술 검증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문서 기준으로 확인된 핵심 기술 5가지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011680" cy="338328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01168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Sub-Agent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1645920" cy="237744"/>
          </a:xfrm>
          <a:prstGeom prst="roundRect">
            <a:avLst>
              <a:gd name="adj" fmla="val 15385"/>
            </a:avLst>
          </a:prstGeom>
          <a:solidFill>
            <a:srgbClr val="4F9CF9">
              <a:alpha val="15000"/>
            </a:srgbClr>
          </a:solidFill>
          <a:ln w="635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9CF9"/>
                </a:solidFill>
              </a:rPr>
              <a:t>.claude/agents/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9CF9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마크다운 + YAML frontmatter 정의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9CF9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독립 컨텍스트 윈도우 실행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566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9CF9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에이전트별 모델 지정 (Opus/Sonnet/Haiku)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4F9CF9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Project / Global 2계층 우선순위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33472" y="1508760"/>
            <a:ext cx="2011680" cy="338328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1508760"/>
            <a:ext cx="2011680" cy="54864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Agent Teams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16352" y="1938528"/>
            <a:ext cx="1645920" cy="237744"/>
          </a:xfrm>
          <a:prstGeom prst="roundRect">
            <a:avLst>
              <a:gd name="adj" fmla="val 15385"/>
            </a:avLst>
          </a:prstGeom>
          <a:solidFill>
            <a:srgbClr val="27C887">
              <a:alpha val="15000"/>
            </a:srgbClr>
          </a:solidFill>
          <a:ln w="6350">
            <a:solidFill>
              <a:srgbClr val="27C8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C887"/>
                </a:solidFill>
              </a:rPr>
              <a:t>병렬 실행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286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7C887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공유 TodoList로 실시간 조율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7C887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도메인별 파일 소유권 격리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566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7C887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Git worktree 브랜치 격리 지원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7C887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오케스트레이터 기반 태스크 분배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9744" y="1508760"/>
            <a:ext cx="2011680" cy="338328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1508760"/>
            <a:ext cx="201168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Agent SDK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92624" y="1938528"/>
            <a:ext cx="1645920" cy="237744"/>
          </a:xfrm>
          <a:prstGeom prst="roundRect">
            <a:avLst>
              <a:gd name="adj" fmla="val 15385"/>
            </a:avLst>
          </a:prstGeom>
          <a:solidFill>
            <a:srgbClr val="F9C74F">
              <a:alpha val="15000"/>
            </a:srgbClr>
          </a:solidFill>
          <a:ln w="6350">
            <a:solidFill>
              <a:srgbClr val="F9C7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C74F"/>
                </a:solidFill>
              </a:rPr>
              <a:t>Python / TypeScript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2286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9C74F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query() 프로그래매틱 실행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9C74F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Hooks: Pre/PostToolUse, Stop, Session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566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9C74F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MCP: GitHub, Playwright, DB 연결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9C74F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Custom Tools (in-process MCP)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86016" y="1508760"/>
            <a:ext cx="2011680" cy="338328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86016" y="1508760"/>
            <a:ext cx="2011680" cy="54864"/>
          </a:xfrm>
          <a:prstGeom prst="rect">
            <a:avLst/>
          </a:prstGeom>
          <a:solidFill>
            <a:srgbClr val="F870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1600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Skills &amp; Commands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168896" y="1938528"/>
            <a:ext cx="1645920" cy="237744"/>
          </a:xfrm>
          <a:prstGeom prst="roundRect">
            <a:avLst>
              <a:gd name="adj" fmla="val 15385"/>
            </a:avLst>
          </a:prstGeom>
          <a:solidFill>
            <a:srgbClr val="F87060">
              <a:alpha val="15000"/>
            </a:srgbClr>
          </a:solidFill>
          <a:ln w="6350">
            <a:solidFill>
              <a:srgbClr val="F87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8896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060"/>
                </a:solidFill>
              </a:rPr>
              <a:t>.claude/skills/ &amp; commands/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95744" y="2286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87060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프레임워크 보일러플레이트 재사용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95744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87060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/generate /review /refactor 커맨드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95744" y="3566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87060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Plugin으로 팀 단위 배포 가능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95744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87060"/>
                </a:solidFill>
              </a:rPr>
              <a:t>▸  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A4A6B"/>
                </a:solidFill>
              </a:rPr>
              <a:t>Checkpointing 파일 변경 롤백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03  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</a:rPr>
              <a:t>사용자 UI부터 로컬 POC 구동까지 5개 레이어 구조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475488"/>
          </a:xfrm>
          <a:prstGeom prst="rect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8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1508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사용자 웹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50876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요구사항 입력  ·  진행 모니터링  ·  ZIP/Git 다운로드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984248"/>
            <a:ext cx="0" cy="73152"/>
          </a:xfrm>
          <a:prstGeom prst="line">
            <a:avLst/>
          </a:prstGeom>
          <a:noFill/>
          <a:ln w="12700">
            <a:solidFill>
              <a:srgbClr val="6B4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57400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54864" cy="475488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20574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플랫폼 백엔드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05740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FastAPI · 에이전트 DB · 프로젝트 상태관리 · OpenTelemetry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2532888"/>
            <a:ext cx="0" cy="73152"/>
          </a:xfrm>
          <a:prstGeom prst="line">
            <a:avLst/>
          </a:prstGeom>
          <a:noFill/>
          <a:ln w="12700">
            <a:solidFill>
              <a:srgbClr val="4F9C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06040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06040"/>
            <a:ext cx="54864" cy="475488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060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C887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6112" y="26060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 Code OS 레이어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~/.claude/agents/  ·  ~/.claude/skills/  ·  ~/.claude/commands/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081528"/>
            <a:ext cx="0" cy="73152"/>
          </a:xfrm>
          <a:prstGeom prst="line">
            <a:avLst/>
          </a:prstGeom>
          <a:noFill/>
          <a:ln w="12700">
            <a:solidFill>
              <a:srgbClr val="27C8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54680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154680"/>
            <a:ext cx="54864" cy="47548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546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6112" y="31546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격리 프로젝트 가상환경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315468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/workspace/{uuid}/ · CLAUDE.md · Agent Team 병렬 실행 · Checkpointing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3630168"/>
            <a:ext cx="0" cy="73152"/>
          </a:xfrm>
          <a:prstGeom prst="line">
            <a:avLst/>
          </a:prstGeom>
          <a:noFill/>
          <a:ln w="12700">
            <a:solidFill>
              <a:srgbClr val="F9C74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2431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03320"/>
            <a:ext cx="54864" cy="475488"/>
          </a:xfrm>
          <a:prstGeom prst="rect">
            <a:avLst/>
          </a:prstGeom>
          <a:solidFill>
            <a:srgbClr val="F870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70332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060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6112" y="37033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사용자 로컬 환경 (POC)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370332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docker-compose up  ·  npm run dev  ·  로컬 화면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solidFill>
            <a:srgbClr val="2A0A0A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3159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7060"/>
                </a:solidFill>
              </a:rPr>
              <a:t>🔒  보안 원칙: ~/.claude/agents/ 에이전트 정의 파일은 ZIP 패키징에서 절대 제외 — 사용자는 생성된 프로젝트 코드만 수령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03  DIRECTORY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디렉터리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411480"/>
          </a:xfrm>
          <a:prstGeom prst="rect">
            <a:avLst/>
          </a:prstGeom>
          <a:solidFill>
            <a:srgbClr val="243160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9CF9"/>
                </a:solidFill>
              </a:rPr>
              <a:t>Claude Code 실행 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114800" cy="2834640"/>
          </a:xfrm>
          <a:prstGeom prst="rect">
            <a:avLst/>
          </a:prstGeom>
          <a:solidFill>
            <a:srgbClr val="0D1B36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84832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agents/         # 에이전트 라이브러리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orchestrator.md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spec-analyst.md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backend-architect.md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frontend-developer.md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database-architect.md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security-auditor.md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test-automator.md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code-reviewer.md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skills/         # 공통 스킬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spring-boot-skill.md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react-vite-skill.md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commands/       # 슬래시 커맨드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4114800" cy="411480"/>
          </a:xfrm>
          <a:prstGeom prst="rect">
            <a:avLst/>
          </a:prstGeom>
          <a:solidFill>
            <a:srgbClr val="243160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C887"/>
                </a:solidFill>
              </a:rPr>
              <a:t>격리 프로젝트 가상환경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4114800" cy="2834640"/>
          </a:xfrm>
          <a:prstGeom prst="rect">
            <a:avLst/>
          </a:prstGeom>
          <a:solidFill>
            <a:srgbClr val="0D1B36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084832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/workspace/{project_id}/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.claude/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CLAUDE.md    # 파일 소유권 · 도메인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agents/      # 프로젝트 Override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         # 생성 소스코드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Dockerfile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docker-compose.yml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※ ZIP 패키징 시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.claude/  →  제외</a:t>
            </a:r>
            <a:endParaRPr lang="en-US" sz="9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 ~ docs/  →  포함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04  AGENT TEAM ORCHESTRATION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팀 구성 로직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유형별 자동 팀 편성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28800" cy="502920"/>
          </a:xfrm>
          <a:prstGeom prst="rect">
            <a:avLst/>
          </a:prstGeom>
          <a:solidFill>
            <a:srgbClr val="6B48FF"/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사용자 입력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755648"/>
            <a:ext cx="64008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1508760"/>
            <a:ext cx="1828800" cy="5029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spec-analyst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55648"/>
            <a:ext cx="64008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508760"/>
            <a:ext cx="18288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orchestrator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B8D8"/>
                </a:solidFill>
              </a:rPr>
              <a:t>병렬 실행 (Parallel Dispatch)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1920240" cy="566928"/>
          </a:xfrm>
          <a:prstGeom prst="rect">
            <a:avLst/>
          </a:prstGeom>
          <a:solidFill>
            <a:srgbClr val="4F9CF9">
              <a:alpha val="15000"/>
            </a:srgbClr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9CF9"/>
                </a:solidFill>
              </a:rPr>
              <a:t>backend-architect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96312" y="2560320"/>
            <a:ext cx="1920240" cy="566928"/>
          </a:xfrm>
          <a:prstGeom prst="rect">
            <a:avLst/>
          </a:prstGeom>
          <a:solidFill>
            <a:srgbClr val="27C887">
              <a:alpha val="15000"/>
            </a:srgbClr>
          </a:solidFill>
          <a:ln w="19050">
            <a:solidFill>
              <a:srgbClr val="27C8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C887"/>
                </a:solidFill>
              </a:rPr>
              <a:t>frontend-developer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96312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35424" y="2560320"/>
            <a:ext cx="1920240" cy="566928"/>
          </a:xfrm>
          <a:prstGeom prst="rect">
            <a:avLst/>
          </a:prstGeom>
          <a:solidFill>
            <a:srgbClr val="F9C74F">
              <a:alpha val="15000"/>
            </a:srgbClr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5424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</a:rPr>
              <a:t>database-architect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35424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74536" y="2560320"/>
            <a:ext cx="1920240" cy="566928"/>
          </a:xfrm>
          <a:prstGeom prst="rect">
            <a:avLst/>
          </a:prstGeom>
          <a:solidFill>
            <a:srgbClr val="F97316">
              <a:alpha val="1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2560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devops-engineer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74536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Sonnet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B8D8"/>
                </a:solidFill>
              </a:rPr>
              <a:t>순차 실행 (Sequential Dispatch)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2011680" cy="566928"/>
          </a:xfrm>
          <a:prstGeom prst="rect">
            <a:avLst/>
          </a:prstGeom>
          <a:solidFill>
            <a:srgbClr val="F87060">
              <a:alpha val="15000"/>
            </a:srgbClr>
          </a:solidFill>
          <a:ln w="19050">
            <a:solidFill>
              <a:srgbClr val="F87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060"/>
                </a:solidFill>
              </a:rPr>
              <a:t>security-auditor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Opus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895344"/>
            <a:ext cx="73152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3611880"/>
            <a:ext cx="2011680" cy="566928"/>
          </a:xfrm>
          <a:prstGeom prst="rect">
            <a:avLst/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test-automator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Haiku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895344"/>
            <a:ext cx="73152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3611880"/>
            <a:ext cx="2011680" cy="566928"/>
          </a:xfrm>
          <a:prstGeom prst="rect">
            <a:avLst/>
          </a:prstGeom>
          <a:solidFill>
            <a:srgbClr val="EF4444">
              <a:alpha val="1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611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code-reviewer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D8"/>
                </a:solidFill>
              </a:rPr>
              <a:t>Opus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3611880"/>
            <a:ext cx="1554480" cy="566928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3611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ZIP/Git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패키징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3895344"/>
            <a:ext cx="9144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370832"/>
            <a:ext cx="8229600" cy="54864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517136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Opus: 복잡 추론 (오케스트레이터·보안·리뷰)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83280" y="4517136"/>
            <a:ext cx="164592" cy="164592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1024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Sonnet: 일반 개발 (백엔드·프론트·DB·DevOps)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45171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64224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744"/>
                </a:solidFill>
              </a:rPr>
              <a:t>Haiku: 빠른 단순 작업 (테스트·탐색)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05  CORE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플로우 상세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입력 → 코드 생성 → 사용자 로컬 POC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475488" cy="1691640"/>
          </a:xfrm>
          <a:prstGeom prst="rect">
            <a:avLst/>
          </a:prstGeom>
          <a:solidFill>
            <a:srgbClr val="6B48FF">
              <a:alpha val="15000"/>
            </a:srgbClr>
          </a:solidFill>
          <a:ln w="12700">
            <a:solidFill>
              <a:srgbClr val="6B4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8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18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요구사항 입력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B48FF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유형 선택 (신규·고도화·리팩토링·POC)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B48FF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기술 스택 선호도 입력 (선택)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7340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6B48FF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품질 임계값 설정 (70~95%)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64992" y="150876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1508760"/>
            <a:ext cx="475488" cy="1691640"/>
          </a:xfrm>
          <a:prstGeom prst="rect">
            <a:avLst/>
          </a:prstGeom>
          <a:solidFill>
            <a:srgbClr val="4F9CF9">
              <a:alpha val="15000"/>
            </a:srgbClr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69164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9CF9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13632" y="1618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가상환경 생성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13632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F9CF9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/workspace/{uuid}/ 격리 디렉터리 생성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13632" y="23500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F9CF9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CLAUDE.md 자동 주입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13632" y="27340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F9CF9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초기 패키지 파일 생성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2784" y="150876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1508760"/>
            <a:ext cx="475488" cy="1691640"/>
          </a:xfrm>
          <a:prstGeom prst="rect">
            <a:avLst/>
          </a:prstGeom>
          <a:solidFill>
            <a:srgbClr val="27C887">
              <a:alpha val="15000"/>
            </a:srgbClr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69164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C887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21424" y="1618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Agent SDK 실행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C887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orchestrator가 팀 편성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21424" y="23500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C887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공유 TodoList 작성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27340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7C887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Hooks로 감사 로그·비용 추적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83280"/>
            <a:ext cx="475488" cy="1691640"/>
          </a:xfrm>
          <a:prstGeom prst="rect">
            <a:avLst/>
          </a:prstGeom>
          <a:solidFill>
            <a:srgbClr val="F9C74F">
              <a:alpha val="15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5661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C74F"/>
                </a:solidFill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4930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팀 병렬 실행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840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9C74F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도메인별 Sub-Agent 병렬 코드 생성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" y="42245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9C74F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파일 충돌 방지 (소유권 격리)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" y="46085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9C74F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Checkpointing 스냅샷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64992" y="33832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64992" y="3383280"/>
            <a:ext cx="475488" cy="1691640"/>
          </a:xfrm>
          <a:prstGeom prst="rect">
            <a:avLst/>
          </a:prstGeom>
          <a:solidFill>
            <a:srgbClr val="F87060">
              <a:alpha val="15000"/>
            </a:srgbClr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5661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7060"/>
                </a:solidFill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913632" y="34930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결과물 패키징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13632" y="3840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060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.claude/agents/ 제외 ZIP 생성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13632" y="42245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060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선택: Git 저장소 Push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913632" y="46085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060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다운로드 링크 제공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72784" y="338328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72784" y="3383280"/>
            <a:ext cx="475488" cy="16916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2784" y="35661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06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21424" y="34930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</a:rPr>
              <a:t>로컬 POC 구동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21424" y="38404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0B981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ZIP 다운로드 or Git clone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21424" y="42245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0B981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docker-compose up -d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821424" y="46085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0B981"/>
                </a:solidFill>
              </a:rPr>
              <a:t>·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A4A6B"/>
                </a:solidFill>
              </a:rPr>
              <a:t>브라우저에서 POC 확인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06  PLATFORM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 플랫폼 기능 정의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33756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🤖  에이전트 라이브러리 관리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에이전트 CRUD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20848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웹 UI에서 .md 파일 생성·수정·삭제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780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버전 관리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2478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Git 기반 에이전트 정의 이력 추적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71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모델 배정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8712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에이전트별 Opus/Sonnet/Haiku 설정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도구 권한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3264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allowed_tools 세밀 제어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스킬 연동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에이전트별 재사용 스킬 연결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50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활성 상태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050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claude agents CLI 결과 실시간 표시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439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Override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44439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프로젝트 레벨 에이전트 Override 관리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4114800" cy="3337560"/>
          </a:xfrm>
          <a:prstGeom prst="rect">
            <a:avLst/>
          </a:prstGeom>
          <a:solidFill>
            <a:srgbClr val="E8F0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508760"/>
            <a:ext cx="4114800" cy="457200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📁  프로젝트 관리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0848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프로젝트 생성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0848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요구사항 → 팀 자동 편성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4780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실행 모니터링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478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Sub-Agent 상태·진행률·로그 실시간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8712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비용 추적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28712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OpenTelemetry 토큰/비용 대시보드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264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결과물 관리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264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ZIP 다운로드 / Git URL 조회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657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히스토리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프로젝트별 실행 이력·파일 목록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40507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롤백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4050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Checkpointing 기반 시점 복원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44439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커스터마이징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4439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A6B"/>
                </a:solidFill>
              </a:rPr>
              <a:t>에이전트 조합 수동 선택 지원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07  DEVELOPMENT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</a:rPr>
              <a:t>3-Phase 점진적 구축 전략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4320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743200" cy="54864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9CF9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1~2개월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MVP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" y="2633472"/>
            <a:ext cx="109728" cy="10972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핵심 에이전트 정의 파일 8종 작성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090672"/>
            <a:ext cx="109728" cy="10972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Agent SDK 기반 오케스트레이터 실행 엔진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547872"/>
            <a:ext cx="109728" cy="10972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격리 가상환경 생성·관리 (Node.js/Python)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4005072"/>
            <a:ext cx="109728" cy="10972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ZIP 패키징 (.claude/agents/ 제외 로직)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4462272"/>
            <a:ext cx="109728" cy="109728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웹 UI: 입력·상태·다운로드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1508760"/>
            <a:ext cx="274320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27C88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1508760"/>
            <a:ext cx="2743200" cy="54864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C887"/>
                </a:solidFill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02152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2~3개월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02152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팀 관리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529584" y="2633472"/>
            <a:ext cx="109728" cy="109728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에이전트 라이브러리 웹 관리 UI (CRUD)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9584" y="3090672"/>
            <a:ext cx="109728" cy="109728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OpenTelemetry 비용 대시보드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29584" y="3547872"/>
            <a:ext cx="109728" cy="109728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실행 로그 실시간 스트리밍 (WebSocket)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29584" y="4005072"/>
            <a:ext cx="109728" cy="109728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2464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Git 저장소 연동 (자동 Push)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29584" y="4462272"/>
            <a:ext cx="109728" cy="109728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Checkpointing 기반 롤백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2784" y="1508760"/>
            <a:ext cx="2743200" cy="3383280"/>
          </a:xfrm>
          <a:prstGeom prst="rect">
            <a:avLst/>
          </a:prstGeom>
          <a:solidFill>
            <a:srgbClr val="243160"/>
          </a:solidFill>
          <a:ln w="19050">
            <a:solidFill>
              <a:srgbClr val="F9C7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2784" y="1508760"/>
            <a:ext cx="27432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9944" y="15727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</a:rPr>
              <a:t>Phase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9944" y="1810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</a:rPr>
              <a:t>3~6개월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9944" y="20848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고도화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37376" y="26334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0256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기존 코드 업로드 → 고도화/리팩토링 지원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37376" y="30906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Agent Teams 완전 병렬 실행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37376" y="35478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0256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MCP 연동 (GitHub, Jira, Slack)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37376" y="40050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0256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Plugin 시스템 (에이전트 패키지 배포)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37376" y="4462272"/>
            <a:ext cx="109728" cy="109728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0256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멀티 사용자 / 워크스페이스 격리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07  SECURITY &amp; COST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및 비용 전략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114800" cy="3337560"/>
          </a:xfrm>
          <a:prstGeom prst="rect">
            <a:avLst/>
          </a:prstGeom>
          <a:solidFill>
            <a:srgbClr val="FFF7F7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solidFill>
            <a:srgbClr val="F87060"/>
          </a:solidFill>
          <a:ln w="12700">
            <a:solidFill>
              <a:srgbClr val="F870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🔒  보안 원칙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87060"/>
                </a:solidFill>
              </a:rPr>
              <a:t>에이전트 자산 보호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</a:rPr>
              <a:t>~/.claude/agents/ 는 ZIP에 절대 미포함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87060"/>
                </a:solidFill>
              </a:rPr>
              <a:t>가상환경 격리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</a:rPr>
              <a:t>프로젝트별 독립 Docker 컨테이너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87060"/>
                </a:solidFill>
              </a:rPr>
              <a:t>도구 권한 최소화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</a:rPr>
              <a:t>에이전트별 allowed_tools 최소 지정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87060"/>
                </a:solidFill>
              </a:rPr>
              <a:t>감사 로그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</a:rPr>
              <a:t>PostToolUse Hook으로 모든 파일 수정 기록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87060"/>
                </a:solidFill>
              </a:rPr>
              <a:t>API 키 관리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</a:rPr>
              <a:t>Claude API 키는 서버 사이드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87060"/>
                </a:solidFill>
              </a:rPr>
              <a:t>권한 모드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</a:rPr>
              <a:t>acceptEdits로 자동 승인 범위 제어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114800" cy="3337560"/>
          </a:xfrm>
          <a:prstGeom prst="rect">
            <a:avLst/>
          </a:prstGeom>
          <a:solidFill>
            <a:srgbClr val="F0FF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08760"/>
            <a:ext cx="4114800" cy="457200"/>
          </a:xfrm>
          <a:prstGeom prst="rect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508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 비용 최적화 전략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</a:rPr>
              <a:t>모델 계층화 (비용 ↓, 품질 유지)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377440"/>
            <a:ext cx="3749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2487168"/>
            <a:ext cx="45720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23774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orchestrator · security-auditor · code-reviewer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235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복잡한 추론·보안 판단 필요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3182112"/>
            <a:ext cx="3749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3291840"/>
            <a:ext cx="457200" cy="27432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291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Sonnet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3182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backend · frontend · database · devops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2356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일반 개발 작업 대부분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986784"/>
            <a:ext cx="37490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74920" y="4096512"/>
            <a:ext cx="457200" cy="274320"/>
          </a:xfrm>
          <a:prstGeom prst="ellipse">
            <a:avLst/>
          </a:prstGeom>
          <a:solidFill>
            <a:srgbClr val="27C887"/>
          </a:solidFill>
          <a:ln w="12700">
            <a:solidFill>
              <a:srgbClr val="27C88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096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Haiku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39867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44"/>
                </a:solidFill>
              </a:rPr>
              <a:t>test-automator · 탐색 태스크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23560" y="4306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빠른 단순 반복 작업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45720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8"/>
                </a:solidFill>
              </a:rPr>
              <a:t>프로젝트 단위 토큰 한도 설정 + 초과 시 알림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9CF9"/>
                </a:solidFill>
              </a:rPr>
              <a:t>FUTURE 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확장 포인트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1554480"/>
          </a:xfrm>
          <a:prstGeom prst="rect">
            <a:avLst/>
          </a:prstGeom>
          <a:solidFill>
            <a:srgbClr val="243160"/>
          </a:solidFill>
          <a:ln w="6350">
            <a:solidFill>
              <a:srgbClr val="2E3D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클라우드 배포 자동화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D8"/>
                </a:solidFill>
              </a:rPr>
              <a:t>devops-engineer 에이전트가 AWS/GCP/NCP 배포까지 수행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64992" y="1463040"/>
            <a:ext cx="2743200" cy="1554480"/>
          </a:xfrm>
          <a:prstGeom prst="rect">
            <a:avLst/>
          </a:prstGeom>
          <a:solidFill>
            <a:srgbClr val="243160"/>
          </a:solidFill>
          <a:ln w="6350">
            <a:solidFill>
              <a:srgbClr val="2E3D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152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CI/CD 파이프라인 통합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D8"/>
                </a:solidFill>
              </a:rPr>
              <a:t>Agent SDK를 GitLab CI / GitHub Actions에 임베드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2784" y="1463040"/>
            <a:ext cx="2743200" cy="1554480"/>
          </a:xfrm>
          <a:prstGeom prst="rect">
            <a:avLst/>
          </a:prstGeom>
          <a:solidFill>
            <a:srgbClr val="243160"/>
          </a:solidFill>
          <a:ln w="6350">
            <a:solidFill>
              <a:srgbClr val="2E3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9944" y="21214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폐쇄망 지원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4224" y="24505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D8"/>
                </a:solidFill>
              </a:rPr>
              <a:t>Local LLM 연동으로 인터넷 차단 환경 지원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743200" cy="1554480"/>
          </a:xfrm>
          <a:prstGeom prst="rect">
            <a:avLst/>
          </a:prstGeom>
          <a:solidFill>
            <a:srgbClr val="243160"/>
          </a:solidFill>
          <a:ln w="6350">
            <a:solidFill>
              <a:srgbClr val="2E3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에이전트 마켓플레이스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D8"/>
                </a:solidFill>
              </a:rPr>
              <a:t>팀·조직 간 검증된 에이전트 플러그인 공유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64992" y="3200400"/>
            <a:ext cx="2743200" cy="1554480"/>
          </a:xfrm>
          <a:prstGeom prst="rect">
            <a:avLst/>
          </a:prstGeom>
          <a:solidFill>
            <a:srgbClr val="243160"/>
          </a:solidFill>
          <a:ln w="6350">
            <a:solidFill>
              <a:srgbClr val="2E3D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02152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프레임워크 스킬 확장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56432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D8"/>
                </a:solidFill>
              </a:rPr>
              <a:t>Spring Cloud, NestJS, Next.js, Flutter 스킬 추가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72784" y="3200400"/>
            <a:ext cx="2743200" cy="1554480"/>
          </a:xfrm>
          <a:prstGeom prst="rect">
            <a:avLst/>
          </a:prstGeom>
          <a:solidFill>
            <a:srgbClr val="243160"/>
          </a:solidFill>
          <a:ln w="6350">
            <a:solidFill>
              <a:srgbClr val="2E3D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09944" y="38587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멀티 LLM 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64224" y="41879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B8D8"/>
                </a:solidFill>
              </a:rPr>
              <a:t>Claude 외 GPT-4o, Gemini 혼합 팀 구성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2E3D78">
              <a:alpha val="25000"/>
            </a:srgbClr>
          </a:solidFill>
          <a:ln w="12700">
            <a:solidFill>
              <a:srgbClr val="2E3D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4F9CF9">
              <a:alpha val="15000"/>
            </a:srgbClr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B8D8"/>
                </a:solidFill>
              </a:rPr>
              <a:t>Claude Agent 관리 플랫폼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팀을 만들고,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팀이 코드를 만든다.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9CF9"/>
                </a:solidFill>
              </a:rPr>
              <a:t>Sub-Agents · Agent Teams · Agent SDK · MCP · Hooks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Claude Agent Platform v0.2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??? ?? ???</a:t>
            </a:r>
          </a:p>
          <a:p>
            <a:pPr>
              <a:defRPr sz="1600"/>
            </a:pPr>
            <a:r>
              <a:t>1) ?? LLM ?? ???? ?? ?? LLM ???? ???? ??</a:t>
            </a:r>
          </a:p>
          <a:p>
            <a:pPr>
              <a:defRPr sz="1600"/>
            </a:pPr>
            <a:r>
              <a:t>2) ?? ??? ??? ???? ?? ??</a:t>
            </a:r>
          </a:p>
          <a:p>
            <a:pPr>
              <a:defRPr sz="1600"/>
            </a:pPr>
            <a:r>
              <a:t>3) ?? ??(web/backend/db), ??(C/C++/Java/Python), ??(??/???/????/POC), ??(??/??/??/B2B/B2C) ??</a:t>
            </a:r>
          </a:p>
          <a:p>
            <a:pPr>
              <a:defRPr sz="1600"/>
            </a:pPr>
            <a:r>
              <a:t>4) ?? ??? ?? ? ??? ??</a:t>
            </a:r>
          </a:p>
          <a:p>
            <a:pPr>
              <a:defRPr sz="1600"/>
            </a:pPr>
            <a:r>
              <a:t>5) ??? OK ?? ???? POC ?? ?? 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Agent 관리 플랫폼</dc:title>
  <dc:subject>PptxGenJS Presentation</dc:subject>
  <dc:creator>PptxGenJS</dc:creator>
  <cp:lastModifiedBy>PptxGenJS</cp:lastModifiedBy>
  <cp:revision>1</cp:revision>
  <dcterms:created xsi:type="dcterms:W3CDTF">2026-05-13T04:41:24Z</dcterms:created>
  <dcterms:modified xsi:type="dcterms:W3CDTF">2026-05-13T04:41:24Z</dcterms:modified>
</cp:coreProperties>
</file>