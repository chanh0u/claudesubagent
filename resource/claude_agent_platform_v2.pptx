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03520" y="-1097280"/>
            <a:ext cx="5486400" cy="5486400"/>
          </a:xfrm>
          <a:prstGeom prst="ellipse">
            <a:avLst/>
          </a:prstGeom>
          <a:solidFill>
            <a:srgbClr val="2E3D78">
              <a:alpha val="40000"/>
            </a:srgbClr>
          </a:solidFill>
          <a:ln w="12700">
            <a:solidFill>
              <a:srgbClr val="2E3D7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217920" y="-457200"/>
            <a:ext cx="3657600" cy="3657600"/>
          </a:xfrm>
          <a:prstGeom prst="ellipse">
            <a:avLst/>
          </a:prstGeom>
          <a:solidFill>
            <a:srgbClr val="4F9CF9">
              <a:alpha val="20000"/>
            </a:srgbClr>
          </a:solidFill>
          <a:ln w="12700">
            <a:solidFill>
              <a:srgbClr val="4F9CF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280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4F9CF9"/>
                </a:solidFill>
              </a:rPr>
              <a:t>PLATFORM BLUEPRINT  v2.0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1645920"/>
            <a:ext cx="6858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Agent</a:t>
            </a:r>
            <a:endParaRPr lang="en-US" sz="4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관리 플랫폼 v2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548640" y="3566160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ADCFC"/>
                </a:solidFill>
              </a:rPr>
              <a:t>대화로 요구사항을 말하면, AI 에이전트 팀이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ADCFC"/>
                </a:solidFill>
              </a:rPr>
              <a:t>사용자 승인 후 POC 코드를 자동 생성합니다.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4434840"/>
            <a:ext cx="2606040" cy="292608"/>
          </a:xfrm>
          <a:prstGeom prst="roundRect">
            <a:avLst>
              <a:gd name="adj" fmla="val 15625"/>
            </a:avLst>
          </a:prstGeom>
          <a:solidFill>
            <a:srgbClr val="243160"/>
          </a:solidFill>
          <a:ln w="12700">
            <a:solidFill>
              <a:srgbClr val="4F9CF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4434840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F9CF9"/>
                </a:solidFill>
              </a:rPr>
              <a:t>대화 기반 수집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383280" y="4434840"/>
            <a:ext cx="2606040" cy="292608"/>
          </a:xfrm>
          <a:prstGeom prst="roundRect">
            <a:avLst>
              <a:gd name="adj" fmla="val 15625"/>
            </a:avLst>
          </a:prstGeom>
          <a:solidFill>
            <a:srgbClr val="243160"/>
          </a:solidFill>
          <a:ln w="12700">
            <a:solidFill>
              <a:srgbClr val="27C88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83280" y="4434840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7C887"/>
                </a:solidFill>
              </a:rPr>
              <a:t>LLM 연동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217920" y="4434840"/>
            <a:ext cx="2606040" cy="292608"/>
          </a:xfrm>
          <a:prstGeom prst="roundRect">
            <a:avLst>
              <a:gd name="adj" fmla="val 15625"/>
            </a:avLst>
          </a:prstGeom>
          <a:solidFill>
            <a:srgbClr val="243160"/>
          </a:solidFill>
          <a:ln w="12700">
            <a:solidFill>
              <a:srgbClr val="F9C74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17920" y="4434840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9C74F"/>
                </a:solidFill>
              </a:rPr>
              <a:t>기술 스택 선택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4818888"/>
            <a:ext cx="2606040" cy="292608"/>
          </a:xfrm>
          <a:prstGeom prst="roundRect">
            <a:avLst>
              <a:gd name="adj" fmla="val 15625"/>
            </a:avLst>
          </a:prstGeom>
          <a:solidFill>
            <a:srgbClr val="243160"/>
          </a:solidFill>
          <a:ln w="12700">
            <a:solidFill>
              <a:srgbClr val="F8706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4818888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87060"/>
                </a:solidFill>
              </a:rPr>
              <a:t>사용자 승인 게이트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383280" y="4818888"/>
            <a:ext cx="2606040" cy="292608"/>
          </a:xfrm>
          <a:prstGeom prst="roundRect">
            <a:avLst>
              <a:gd name="adj" fmla="val 15625"/>
            </a:avLst>
          </a:prstGeom>
          <a:solidFill>
            <a:srgbClr val="243160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83280" y="4818888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5CF6"/>
                </a:solidFill>
              </a:rPr>
              <a:t>다언어 지원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4F9CF9"/>
                </a:solidFill>
              </a:rPr>
              <a:t>CONTENTS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목차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8229600" cy="457200"/>
          </a:xfrm>
          <a:prstGeom prst="rect">
            <a:avLst/>
          </a:prstGeom>
          <a:solidFill>
            <a:srgbClr val="EEF2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F9CF9"/>
                </a:solidFill>
              </a:rPr>
              <a:t>01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97280" y="14630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44"/>
                </a:solidFill>
              </a:rPr>
              <a:t>플랫폼 개요 및 핵심 변경사항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846320" y="14630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B8D8"/>
                </a:solidFill>
              </a:rPr>
              <a:t>v1 대비 개선된 4-Phase 플로우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956816"/>
            <a:ext cx="82296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19568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F9CF9"/>
                </a:solidFill>
              </a:rPr>
              <a:t>02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97280" y="1956816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44"/>
                </a:solidFill>
              </a:rPr>
              <a:t>Phase A — 대화 기반 요구사항 수집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846320" y="1956816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B8D8"/>
                </a:solidFill>
              </a:rPr>
              <a:t>내부/외부 LLM 연동 · 자연어 대화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450592"/>
            <a:ext cx="8229600" cy="457200"/>
          </a:xfrm>
          <a:prstGeom prst="rect">
            <a:avLst/>
          </a:prstGeom>
          <a:solidFill>
            <a:srgbClr val="EEF2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24505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F9CF9"/>
                </a:solidFill>
              </a:rPr>
              <a:t>03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97280" y="245059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44"/>
                </a:solidFill>
              </a:rPr>
              <a:t>Phase B — 기술 스택 선택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46320" y="245059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B8D8"/>
                </a:solidFill>
              </a:rPr>
              <a:t>Web·DB·Backend · 언어 · 방향 · 도메인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2944368"/>
            <a:ext cx="82296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29443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F9CF9"/>
                </a:solidFill>
              </a:rPr>
              <a:t>04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97280" y="294436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44"/>
                </a:solidFill>
              </a:rPr>
              <a:t>Phase C — 최종 검토 및 승인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846320" y="294436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B8D8"/>
                </a:solidFill>
              </a:rPr>
              <a:t>요약본 제시 · OK / 수정 분기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3438144"/>
            <a:ext cx="8229600" cy="457200"/>
          </a:xfrm>
          <a:prstGeom prst="rect">
            <a:avLst/>
          </a:prstGeom>
          <a:solidFill>
            <a:srgbClr val="EEF2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4360" y="34381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F9CF9"/>
                </a:solidFill>
              </a:rPr>
              <a:t>05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97280" y="3438144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44"/>
                </a:solidFill>
              </a:rPr>
              <a:t>Phase D — Agent 팀 POC 코드 생성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846320" y="3438144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B8D8"/>
                </a:solidFill>
              </a:rPr>
              <a:t>orchestrator · 병렬 실행 · ZIP 결과물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3931920"/>
            <a:ext cx="82296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94360" y="3931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F9CF9"/>
                </a:solidFill>
              </a:rPr>
              <a:t>06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097280" y="39319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44"/>
                </a:solidFill>
              </a:rPr>
              <a:t>시스템 아키텍처 및 디렉터리 구조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846320" y="39319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B8D8"/>
                </a:solidFill>
              </a:rPr>
              <a:t>전체 레이어 · 파일 소유권 · 보안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57200" y="4425696"/>
            <a:ext cx="8229600" cy="457200"/>
          </a:xfrm>
          <a:prstGeom prst="rect">
            <a:avLst/>
          </a:prstGeom>
          <a:solidFill>
            <a:srgbClr val="EEF2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94360" y="44256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F9CF9"/>
                </a:solidFill>
              </a:rPr>
              <a:t>07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1097280" y="4425696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44"/>
                </a:solidFill>
              </a:rPr>
              <a:t>LLM 연동 전략 및 개발 로드맵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846320" y="4425696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B8D8"/>
                </a:solidFill>
              </a:rPr>
              <a:t>내부/외부 전환 · 3-Phase 구축 계획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4F9CF9"/>
                </a:solidFill>
              </a:rPr>
              <a:t>01  OVERVIEW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플랫폼 개요 — v1 대비 핵심 변경사항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2011680" cy="384048"/>
          </a:xfrm>
          <a:prstGeom prst="rect">
            <a:avLst/>
          </a:prstGeom>
          <a:solidFill>
            <a:srgbClr val="1A2744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41732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항목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468880" y="1417320"/>
            <a:ext cx="2560320" cy="384048"/>
          </a:xfrm>
          <a:prstGeom prst="rect">
            <a:avLst/>
          </a:prstGeom>
          <a:solidFill>
            <a:srgbClr val="1A2744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560320" y="141732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v1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029200" y="1417320"/>
            <a:ext cx="3200400" cy="384048"/>
          </a:xfrm>
          <a:prstGeom prst="rect">
            <a:avLst/>
          </a:prstGeom>
          <a:solidFill>
            <a:srgbClr val="1A2744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120640" y="1417320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v2 (신규)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1801368"/>
            <a:ext cx="2011680" cy="384048"/>
          </a:xfrm>
          <a:prstGeom prst="rect">
            <a:avLst/>
          </a:prstGeom>
          <a:solidFill>
            <a:srgbClr val="F0FFF8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1801368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744"/>
                </a:solidFill>
              </a:rPr>
              <a:t>요구사항 수집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468880" y="1801368"/>
            <a:ext cx="2560320" cy="384048"/>
          </a:xfrm>
          <a:prstGeom prst="rect">
            <a:avLst/>
          </a:prstGeom>
          <a:solidFill>
            <a:srgbClr val="F0FFF8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60320" y="1801368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744"/>
                </a:solidFill>
              </a:rPr>
              <a:t>직접 텍스트 입력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029200" y="1801368"/>
            <a:ext cx="3200400" cy="384048"/>
          </a:xfrm>
          <a:prstGeom prst="rect">
            <a:avLst/>
          </a:prstGeom>
          <a:solidFill>
            <a:srgbClr val="F0FFF8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120640" y="1801368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7C887"/>
                </a:solidFill>
              </a:rPr>
              <a:t>LLM과 자연어 대화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2185416"/>
            <a:ext cx="2011680" cy="384048"/>
          </a:xfrm>
          <a:prstGeom prst="rect">
            <a:avLst/>
          </a:prstGeom>
          <a:solidFill>
            <a:srgbClr val="F0FFF8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2185416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744"/>
                </a:solidFill>
              </a:rPr>
              <a:t>LLM 연동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68880" y="2185416"/>
            <a:ext cx="2560320" cy="384048"/>
          </a:xfrm>
          <a:prstGeom prst="rect">
            <a:avLst/>
          </a:prstGeom>
          <a:solidFill>
            <a:srgbClr val="F0FFF8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60320" y="2185416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744"/>
                </a:solidFill>
              </a:rPr>
              <a:t>없음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029200" y="2185416"/>
            <a:ext cx="3200400" cy="384048"/>
          </a:xfrm>
          <a:prstGeom prst="rect">
            <a:avLst/>
          </a:prstGeom>
          <a:solidFill>
            <a:srgbClr val="F0FFF8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120640" y="2185416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7C887"/>
                </a:solidFill>
              </a:rPr>
              <a:t>내부/외부 LLM 환경변수 전환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2569464"/>
            <a:ext cx="2011680" cy="384048"/>
          </a:xfrm>
          <a:prstGeom prst="rect">
            <a:avLst/>
          </a:prstGeom>
          <a:solidFill>
            <a:srgbClr val="F0FFF8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2569464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744"/>
                </a:solidFill>
              </a:rPr>
              <a:t>기술 스택 선택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468880" y="2569464"/>
            <a:ext cx="2560320" cy="384048"/>
          </a:xfrm>
          <a:prstGeom prst="rect">
            <a:avLst/>
          </a:prstGeom>
          <a:solidFill>
            <a:srgbClr val="F0FFF8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560320" y="2569464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744"/>
                </a:solidFill>
              </a:rPr>
              <a:t>자동 추론만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029200" y="2569464"/>
            <a:ext cx="3200400" cy="384048"/>
          </a:xfrm>
          <a:prstGeom prst="rect">
            <a:avLst/>
          </a:prstGeom>
          <a:solidFill>
            <a:srgbClr val="F0FFF8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120640" y="2569464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7C887"/>
                </a:solidFill>
              </a:rPr>
              <a:t>사용자 선택 + AI 추론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57200" y="2953512"/>
            <a:ext cx="2011680" cy="384048"/>
          </a:xfrm>
          <a:prstGeom prst="rect">
            <a:avLst/>
          </a:prstGeom>
          <a:solidFill>
            <a:srgbClr val="F0FFF8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8640" y="295351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744"/>
                </a:solidFill>
              </a:rPr>
              <a:t>도메인 영역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2468880" y="2953512"/>
            <a:ext cx="2560320" cy="384048"/>
          </a:xfrm>
          <a:prstGeom prst="rect">
            <a:avLst/>
          </a:prstGeom>
          <a:solidFill>
            <a:srgbClr val="F0FFF8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560320" y="2953512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744"/>
                </a:solidFill>
              </a:rPr>
              <a:t>없음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029200" y="2953512"/>
            <a:ext cx="3200400" cy="384048"/>
          </a:xfrm>
          <a:prstGeom prst="rect">
            <a:avLst/>
          </a:prstGeom>
          <a:solidFill>
            <a:srgbClr val="F0FFF8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120640" y="2953512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7C887"/>
                </a:solidFill>
              </a:rPr>
              <a:t>금융·공공·B2B·B2C 특화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57200" y="3337560"/>
            <a:ext cx="2011680" cy="384048"/>
          </a:xfrm>
          <a:prstGeom prst="rect">
            <a:avLst/>
          </a:prstGeom>
          <a:solidFill>
            <a:srgbClr val="F0FFF8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48640" y="33375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744"/>
                </a:solidFill>
              </a:rPr>
              <a:t>사용자 승인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2468880" y="3337560"/>
            <a:ext cx="2560320" cy="384048"/>
          </a:xfrm>
          <a:prstGeom prst="rect">
            <a:avLst/>
          </a:prstGeom>
          <a:solidFill>
            <a:srgbClr val="F0FFF8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560320" y="333756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744"/>
                </a:solidFill>
              </a:rPr>
              <a:t>없음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5029200" y="3337560"/>
            <a:ext cx="3200400" cy="384048"/>
          </a:xfrm>
          <a:prstGeom prst="rect">
            <a:avLst/>
          </a:prstGeom>
          <a:solidFill>
            <a:srgbClr val="F0FFF8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120640" y="3337560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7C887"/>
                </a:solidFill>
              </a:rPr>
              <a:t>요약 검토 후 OK 게이트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57200" y="3721608"/>
            <a:ext cx="2011680" cy="384048"/>
          </a:xfrm>
          <a:prstGeom prst="rect">
            <a:avLst/>
          </a:prstGeom>
          <a:solidFill>
            <a:srgbClr val="F0FFF8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48640" y="3721608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744"/>
                </a:solidFill>
              </a:rPr>
              <a:t>다언어 지원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2468880" y="3721608"/>
            <a:ext cx="2560320" cy="384048"/>
          </a:xfrm>
          <a:prstGeom prst="rect">
            <a:avLst/>
          </a:prstGeom>
          <a:solidFill>
            <a:srgbClr val="F0FFF8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560320" y="3721608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744"/>
                </a:solidFill>
              </a:rPr>
              <a:t>Python/Java/JS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5029200" y="3721608"/>
            <a:ext cx="3200400" cy="384048"/>
          </a:xfrm>
          <a:prstGeom prst="rect">
            <a:avLst/>
          </a:prstGeom>
          <a:solidFill>
            <a:srgbClr val="F0FFF8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120640" y="3721608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7C887"/>
                </a:solidFill>
              </a:rPr>
              <a:t>C, C++ 추가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4F9CF9"/>
                </a:solidFill>
              </a:rPr>
              <a:t>02  PHASE A — 대화 수집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A — 대화 기반 요구사항 수집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11556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B8D8"/>
                </a:solidFill>
              </a:rPr>
              <a:t>사용자와 LLM이 자연어로 대화하며 요구사항을 추출합니다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508760"/>
            <a:ext cx="4023360" cy="3291840"/>
          </a:xfrm>
          <a:prstGeom prst="rect">
            <a:avLst/>
          </a:prstGeom>
          <a:solidFill>
            <a:srgbClr val="EEF2FF"/>
          </a:solidFill>
          <a:ln w="6350">
            <a:solidFill>
              <a:srgbClr val="CBD5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508760"/>
            <a:ext cx="4023360" cy="411480"/>
          </a:xfrm>
          <a:prstGeom prst="rect">
            <a:avLst/>
          </a:prstGeom>
          <a:solidFill>
            <a:srgbClr val="4F9CF9"/>
          </a:solidFill>
          <a:ln w="12700">
            <a:solidFill>
              <a:srgbClr val="4F9CF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50876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내부 LLM (폐쇄망)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2029968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4A6B"/>
                </a:solidFill>
              </a:rPr>
              <a:t>Ollama 기반 Local LLM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246888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4A6B"/>
                </a:solidFill>
              </a:rPr>
              <a:t>환경변수: LLM_MODE=internal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2907792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4A6B"/>
                </a:solidFill>
              </a:rPr>
              <a:t>INTERNAL_LLM_URL=http://...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3346704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4A6B"/>
                </a:solidFill>
              </a:rPr>
              <a:t>INTERNAL_LLM_MODEL=llama3.1:70b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" y="3785616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7C887"/>
                </a:solidFill>
              </a:rPr>
              <a:t>→ 완전한 폐쇄망 운영 가능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663440" y="1508760"/>
            <a:ext cx="4023360" cy="3291840"/>
          </a:xfrm>
          <a:prstGeom prst="rect">
            <a:avLst/>
          </a:prstGeom>
          <a:solidFill>
            <a:srgbClr val="F0FFF8"/>
          </a:solidFill>
          <a:ln w="6350">
            <a:solidFill>
              <a:srgbClr val="B0E8C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663440" y="1508760"/>
            <a:ext cx="4023360" cy="411480"/>
          </a:xfrm>
          <a:prstGeom prst="rect">
            <a:avLst/>
          </a:prstGeom>
          <a:solidFill>
            <a:srgbClr val="27C887"/>
          </a:solidFill>
          <a:ln w="12700">
            <a:solidFill>
              <a:srgbClr val="27C88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00600" y="150876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외부 LLM (Claude API)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00600" y="2029968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4A6B"/>
                </a:solidFill>
              </a:rPr>
              <a:t>Claude API 연동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800600" y="246888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4A6B"/>
                </a:solidFill>
              </a:rPr>
              <a:t>환경변수: LLM_MODE=external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800600" y="2907792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4A6B"/>
                </a:solidFill>
              </a:rPr>
              <a:t>ANTHROPIC_API_KEY=sk-ant-...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800600" y="3346704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4A6B"/>
                </a:solidFill>
              </a:rPr>
              <a:t>CONVERSATION_MODEL=claude-sonnet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800600" y="3785616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7C887"/>
                </a:solidFill>
              </a:rPr>
              <a:t>→ 고품질 대화·추론 가능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286000" y="4937760"/>
            <a:ext cx="4572000" cy="457200"/>
          </a:xfrm>
          <a:prstGeom prst="roundRect">
            <a:avLst>
              <a:gd name="adj" fmla="val 16000"/>
            </a:avLst>
          </a:prstGeom>
          <a:solidFill>
            <a:srgbClr val="27C887"/>
          </a:solidFill>
          <a:ln w="12700">
            <a:solidFill>
              <a:srgbClr val="27C887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2286000" y="49377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✅  서비스 시작하기  →  요약 생성 후 Phase B 진행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4F9CF9"/>
                </a:solidFill>
              </a:rPr>
              <a:t>03  PHASE B — 기술 스택 선택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B — 기술 스택 · 방향 · 도메인 선택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11556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B8D8"/>
                </a:solidFill>
              </a:rPr>
              <a:t>미선택 항목은 대화 내용 기반으로 AI가 자동 추론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508760"/>
            <a:ext cx="4114800" cy="1645920"/>
          </a:xfrm>
          <a:prstGeom prst="rect">
            <a:avLst/>
          </a:prstGeom>
          <a:solidFill>
            <a:srgbClr val="FAFB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508760"/>
            <a:ext cx="4114800" cy="54864"/>
          </a:xfrm>
          <a:prstGeom prst="rect">
            <a:avLst/>
          </a:prstGeom>
          <a:solidFill>
            <a:srgbClr val="4F9CF9"/>
          </a:solidFill>
          <a:ln w="12700">
            <a:solidFill>
              <a:srgbClr val="4F9CF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6002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744"/>
                </a:solidFill>
              </a:rPr>
              <a:t>기술 스택 (Web / DB / Backend)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1792" y="2011680"/>
            <a:ext cx="91440" cy="91440"/>
          </a:xfrm>
          <a:prstGeom prst="ellipse">
            <a:avLst/>
          </a:prstGeom>
          <a:solidFill>
            <a:srgbClr val="4F9CF9"/>
          </a:solidFill>
          <a:ln w="12700">
            <a:solidFill>
              <a:srgbClr val="4F9CF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1965960"/>
            <a:ext cx="3657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4A6B"/>
                </a:solidFill>
              </a:rPr>
              <a:t>Frontend: React / Vue / Next.js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21792" y="2221992"/>
            <a:ext cx="91440" cy="91440"/>
          </a:xfrm>
          <a:prstGeom prst="ellipse">
            <a:avLst/>
          </a:prstGeom>
          <a:solidFill>
            <a:srgbClr val="4F9CF9"/>
          </a:solidFill>
          <a:ln w="12700">
            <a:solidFill>
              <a:srgbClr val="4F9CF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2176272"/>
            <a:ext cx="3657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4A6B"/>
                </a:solidFill>
              </a:rPr>
              <a:t>Backend: FastAPI / Spring Boot / Node.js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1792" y="2432304"/>
            <a:ext cx="91440" cy="91440"/>
          </a:xfrm>
          <a:prstGeom prst="ellipse">
            <a:avLst/>
          </a:prstGeom>
          <a:solidFill>
            <a:srgbClr val="4F9CF9"/>
          </a:solidFill>
          <a:ln w="12700">
            <a:solidFill>
              <a:srgbClr val="4F9CF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2386584"/>
            <a:ext cx="3657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4A6B"/>
                </a:solidFill>
              </a:rPr>
              <a:t>Database: PostgreSQL / MySQL / MongoDB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1792" y="2642616"/>
            <a:ext cx="91440" cy="91440"/>
          </a:xfrm>
          <a:prstGeom prst="ellipse">
            <a:avLst/>
          </a:prstGeom>
          <a:solidFill>
            <a:srgbClr val="4F9CF9"/>
          </a:solidFill>
          <a:ln w="12700">
            <a:solidFill>
              <a:srgbClr val="4F9CF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2596896"/>
            <a:ext cx="3657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4A6B"/>
                </a:solidFill>
              </a:rPr>
              <a:t>컨테이너: Docker + docker-compose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800600" y="1508760"/>
            <a:ext cx="4114800" cy="1645920"/>
          </a:xfrm>
          <a:prstGeom prst="rect">
            <a:avLst/>
          </a:prstGeom>
          <a:solidFill>
            <a:srgbClr val="FAFB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800600" y="1508760"/>
            <a:ext cx="4114800" cy="54864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37760" y="16002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744"/>
                </a:solidFill>
              </a:rPr>
              <a:t>프로그래밍 언어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965192" y="2011680"/>
            <a:ext cx="91440" cy="9144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120640" y="1965960"/>
            <a:ext cx="3657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4A6B"/>
                </a:solidFill>
              </a:rPr>
              <a:t>Python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965192" y="2221992"/>
            <a:ext cx="91440" cy="9144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120640" y="2176272"/>
            <a:ext cx="3657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4A6B"/>
                </a:solidFill>
              </a:rPr>
              <a:t>Java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965192" y="2432304"/>
            <a:ext cx="91440" cy="9144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120640" y="2386584"/>
            <a:ext cx="3657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4A6B"/>
                </a:solidFill>
              </a:rPr>
              <a:t>JavaScript / TypeScript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965192" y="2642616"/>
            <a:ext cx="91440" cy="9144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120640" y="2596896"/>
            <a:ext cx="3657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4A6B"/>
                </a:solidFill>
              </a:rPr>
              <a:t>C / C++  (고성능 서버)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965192" y="2852928"/>
            <a:ext cx="91440" cy="9144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120640" y="2807208"/>
            <a:ext cx="3657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4A6B"/>
                </a:solidFill>
              </a:rPr>
              <a:t>Go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57200" y="3337560"/>
            <a:ext cx="4114800" cy="1645920"/>
          </a:xfrm>
          <a:prstGeom prst="rect">
            <a:avLst/>
          </a:prstGeom>
          <a:solidFill>
            <a:srgbClr val="FAFB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57200" y="3337560"/>
            <a:ext cx="4114800" cy="54864"/>
          </a:xfrm>
          <a:prstGeom prst="rect">
            <a:avLst/>
          </a:prstGeom>
          <a:solidFill>
            <a:srgbClr val="27C887"/>
          </a:solidFill>
          <a:ln w="12700">
            <a:solidFill>
              <a:srgbClr val="27C88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94360" y="34290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744"/>
                </a:solidFill>
              </a:rPr>
              <a:t>프로젝트 방향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21792" y="3840480"/>
            <a:ext cx="91440" cy="91440"/>
          </a:xfrm>
          <a:prstGeom prst="ellipse">
            <a:avLst/>
          </a:prstGeom>
          <a:solidFill>
            <a:srgbClr val="27C887"/>
          </a:solidFill>
          <a:ln w="12700">
            <a:solidFill>
              <a:srgbClr val="27C88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77240" y="3794760"/>
            <a:ext cx="3657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4A6B"/>
                </a:solidFill>
              </a:rPr>
              <a:t>신규 구축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21792" y="4050792"/>
            <a:ext cx="91440" cy="91440"/>
          </a:xfrm>
          <a:prstGeom prst="ellipse">
            <a:avLst/>
          </a:prstGeom>
          <a:solidFill>
            <a:srgbClr val="27C887"/>
          </a:solidFill>
          <a:ln w="12700">
            <a:solidFill>
              <a:srgbClr val="27C88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77240" y="4005072"/>
            <a:ext cx="3657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4A6B"/>
                </a:solidFill>
              </a:rPr>
              <a:t>고도화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21792" y="4261104"/>
            <a:ext cx="91440" cy="91440"/>
          </a:xfrm>
          <a:prstGeom prst="ellipse">
            <a:avLst/>
          </a:prstGeom>
          <a:solidFill>
            <a:srgbClr val="27C887"/>
          </a:solidFill>
          <a:ln w="12700">
            <a:solidFill>
              <a:srgbClr val="27C88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77240" y="4215384"/>
            <a:ext cx="3657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4A6B"/>
                </a:solidFill>
              </a:rPr>
              <a:t>리팩토링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21792" y="4471416"/>
            <a:ext cx="91440" cy="91440"/>
          </a:xfrm>
          <a:prstGeom prst="ellipse">
            <a:avLst/>
          </a:prstGeom>
          <a:solidFill>
            <a:srgbClr val="27C887"/>
          </a:solidFill>
          <a:ln w="12700">
            <a:solidFill>
              <a:srgbClr val="27C88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77240" y="4425696"/>
            <a:ext cx="3657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4A6B"/>
                </a:solidFill>
              </a:rPr>
              <a:t>POC / 프로토타입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21792" y="4681728"/>
            <a:ext cx="91440" cy="91440"/>
          </a:xfrm>
          <a:prstGeom prst="ellipse">
            <a:avLst/>
          </a:prstGeom>
          <a:solidFill>
            <a:srgbClr val="27C887"/>
          </a:solidFill>
          <a:ln w="12700">
            <a:solidFill>
              <a:srgbClr val="27C88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77240" y="4636008"/>
            <a:ext cx="3657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4A6B"/>
                </a:solidFill>
              </a:rPr>
              <a:t>레거시 마이그레이션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4800600" y="3337560"/>
            <a:ext cx="4114800" cy="1645920"/>
          </a:xfrm>
          <a:prstGeom prst="rect">
            <a:avLst/>
          </a:prstGeom>
          <a:solidFill>
            <a:srgbClr val="FAFB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4800600" y="3337560"/>
            <a:ext cx="4114800" cy="54864"/>
          </a:xfrm>
          <a:prstGeom prst="rect">
            <a:avLst/>
          </a:prstGeom>
          <a:solidFill>
            <a:srgbClr val="F9C74F"/>
          </a:solidFill>
          <a:ln w="12700">
            <a:solidFill>
              <a:srgbClr val="F9C74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937760" y="34290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744"/>
                </a:solidFill>
              </a:rPr>
              <a:t>도메인 영역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4965192" y="3840480"/>
            <a:ext cx="91440" cy="91440"/>
          </a:xfrm>
          <a:prstGeom prst="ellipse">
            <a:avLst/>
          </a:prstGeom>
          <a:solidFill>
            <a:srgbClr val="F9C74F"/>
          </a:solidFill>
          <a:ln w="12700">
            <a:solidFill>
              <a:srgbClr val="F9C74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120640" y="3794760"/>
            <a:ext cx="3657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4A6B"/>
                </a:solidFill>
              </a:rPr>
              <a:t>금융 · 보험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4965192" y="4050792"/>
            <a:ext cx="91440" cy="91440"/>
          </a:xfrm>
          <a:prstGeom prst="ellipse">
            <a:avLst/>
          </a:prstGeom>
          <a:solidFill>
            <a:srgbClr val="F9C74F"/>
          </a:solidFill>
          <a:ln w="12700">
            <a:solidFill>
              <a:srgbClr val="F9C74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120640" y="4005072"/>
            <a:ext cx="3657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4A6B"/>
                </a:solidFill>
              </a:rPr>
              <a:t>유통 · 물류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4965192" y="4261104"/>
            <a:ext cx="91440" cy="91440"/>
          </a:xfrm>
          <a:prstGeom prst="ellipse">
            <a:avLst/>
          </a:prstGeom>
          <a:solidFill>
            <a:srgbClr val="F9C74F"/>
          </a:solidFill>
          <a:ln w="12700">
            <a:solidFill>
              <a:srgbClr val="F9C74F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120640" y="4215384"/>
            <a:ext cx="3657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4A6B"/>
                </a:solidFill>
              </a:rPr>
              <a:t>공공 · 의료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4965192" y="4471416"/>
            <a:ext cx="91440" cy="91440"/>
          </a:xfrm>
          <a:prstGeom prst="ellipse">
            <a:avLst/>
          </a:prstGeom>
          <a:solidFill>
            <a:srgbClr val="F9C74F"/>
          </a:solidFill>
          <a:ln w="12700">
            <a:solidFill>
              <a:srgbClr val="F9C74F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120640" y="4425696"/>
            <a:ext cx="3657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4A6B"/>
                </a:solidFill>
              </a:rPr>
              <a:t>B2B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4965192" y="4681728"/>
            <a:ext cx="91440" cy="91440"/>
          </a:xfrm>
          <a:prstGeom prst="ellipse">
            <a:avLst/>
          </a:prstGeom>
          <a:solidFill>
            <a:srgbClr val="F9C74F"/>
          </a:solidFill>
          <a:ln w="12700">
            <a:solidFill>
              <a:srgbClr val="F9C74F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120640" y="4636008"/>
            <a:ext cx="3657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4A6B"/>
                </a:solidFill>
              </a:rPr>
              <a:t>B2C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4965192" y="4892040"/>
            <a:ext cx="91440" cy="91440"/>
          </a:xfrm>
          <a:prstGeom prst="ellipse">
            <a:avLst/>
          </a:prstGeom>
          <a:solidFill>
            <a:srgbClr val="F9C74F"/>
          </a:solidFill>
          <a:ln w="12700">
            <a:solidFill>
              <a:srgbClr val="F9C74F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120640" y="4846320"/>
            <a:ext cx="3657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4A6B"/>
                </a:solidFill>
              </a:rPr>
              <a:t>제조 · IT 플랫폼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457200" y="4965192"/>
            <a:ext cx="8229600" cy="274320"/>
          </a:xfrm>
          <a:prstGeom prst="rect">
            <a:avLst/>
          </a:prstGeom>
          <a:solidFill>
            <a:srgbClr val="F0F4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94360" y="496519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744"/>
                </a:solidFill>
              </a:rPr>
              <a:t>품질 수준 선택: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2377440" y="4992624"/>
            <a:ext cx="1828800" cy="219456"/>
          </a:xfrm>
          <a:prstGeom prst="roundRect">
            <a:avLst>
              <a:gd name="adj" fmla="val 16667"/>
            </a:avLst>
          </a:prstGeom>
          <a:solidFill>
            <a:srgbClr val="F9C74F"/>
          </a:solidFill>
          <a:ln w="12700">
            <a:solidFill>
              <a:srgbClr val="F9C74F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2377440" y="4992624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Prototype 70%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4389120" y="4992624"/>
            <a:ext cx="1828800" cy="219456"/>
          </a:xfrm>
          <a:prstGeom prst="roundRect">
            <a:avLst>
              <a:gd name="adj" fmla="val 16667"/>
            </a:avLst>
          </a:prstGeom>
          <a:solidFill>
            <a:srgbClr val="27C887"/>
          </a:solidFill>
          <a:ln w="12700">
            <a:solidFill>
              <a:srgbClr val="27C887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389120" y="4992624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Standard 85%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6400800" y="4992624"/>
            <a:ext cx="1828800" cy="219456"/>
          </a:xfrm>
          <a:prstGeom prst="roundRect">
            <a:avLst>
              <a:gd name="adj" fmla="val 16667"/>
            </a:avLst>
          </a:prstGeom>
          <a:solidFill>
            <a:srgbClr val="4F9CF9"/>
          </a:solidFill>
          <a:ln w="12700">
            <a:solidFill>
              <a:srgbClr val="4F9CF9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400800" y="4992624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Enterprise 95%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4F9CF9"/>
                </a:solidFill>
              </a:rPr>
              <a:t>04  PHASE C — 최종 검토 승인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C — 최종 검토 및 승인 게이트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11556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B8D8"/>
                </a:solidFill>
              </a:rPr>
              <a:t>요약본을 검토한 사용자가 OK 해야만 Phase D가 시작됩니다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508760"/>
            <a:ext cx="5029200" cy="3337560"/>
          </a:xfrm>
          <a:prstGeom prst="rect">
            <a:avLst/>
          </a:prstGeom>
          <a:solidFill>
            <a:srgbClr val="0D1B36"/>
          </a:solidFill>
          <a:ln w="12700">
            <a:solidFill>
              <a:srgbClr val="4F9CF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508760"/>
            <a:ext cx="5029200" cy="365760"/>
          </a:xfrm>
          <a:prstGeom prst="rect">
            <a:avLst/>
          </a:prstGeom>
          <a:solidFill>
            <a:srgbClr val="243160"/>
          </a:solidFill>
          <a:ln w="12700">
            <a:solidFill>
              <a:srgbClr val="4F9CF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50876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F9CF9"/>
                </a:solidFill>
              </a:rPr>
              <a:t>📋  최종 요구사항 요약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94360" y="1956816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F9CF9"/>
                </a:solidFill>
              </a:rPr>
              <a:t>📌 프로젝트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011680" y="1956816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</a:rPr>
              <a:t>FastAPI + React 사용자 관리 시스템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94360" y="2432304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F9CF9"/>
                </a:solidFill>
              </a:rPr>
              <a:t>🔧 기술 스택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011680" y="2432304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</a:rPr>
              <a:t>Python · FastAPI · React · PostgreSQL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94360" y="2907792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F9CF9"/>
                </a:solidFill>
              </a:rPr>
              <a:t>🎯 방향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011680" y="2907792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</a:rPr>
              <a:t>신규 구축 (Standard 85%)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94360" y="338328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F9CF9"/>
                </a:solidFill>
              </a:rPr>
              <a:t>🏢 도메인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011680" y="338328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</a:rPr>
              <a:t>B2B (다중 테넌트 구조)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94360" y="3858768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F9CF9"/>
                </a:solidFill>
              </a:rPr>
              <a:t>✅ 핵심 기능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011680" y="3858768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</a:rPr>
              <a:t>회원가입 · 로그인 · 프로필 · 관리자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94360" y="4334256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F9CF9"/>
                </a:solidFill>
              </a:rPr>
              <a:t>📁 예상 구조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011680" y="4334256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</a:rPr>
              <a:t>src/ · tests/ · Dockerfile · CI/CD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669280" y="1508760"/>
            <a:ext cx="3017520" cy="1371600"/>
          </a:xfrm>
          <a:prstGeom prst="rect">
            <a:avLst/>
          </a:prstGeom>
          <a:solidFill>
            <a:srgbClr val="F0FFF8"/>
          </a:solidFill>
          <a:ln w="6350">
            <a:solidFill>
              <a:srgbClr val="B0E8C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806440" y="16002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7C887"/>
                </a:solidFill>
              </a:rPr>
              <a:t>✅  작업 진행 OK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806440" y="210312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3A4A6B"/>
                </a:solidFill>
              </a:rPr>
              <a:t>→ docs/final-approval.md 생성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3A4A6B"/>
                </a:solidFill>
              </a:rPr>
              <a:t>→ Phase D 즉시 시작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669280" y="3063240"/>
            <a:ext cx="3017520" cy="1371600"/>
          </a:xfrm>
          <a:prstGeom prst="rect">
            <a:avLst/>
          </a:prstGeom>
          <a:solidFill>
            <a:srgbClr val="FFF7F0"/>
          </a:solidFill>
          <a:ln w="6350">
            <a:solidFill>
              <a:srgbClr val="FFCCA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806440" y="31546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7060"/>
                </a:solidFill>
              </a:rPr>
              <a:t>✏️  수정 요청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806440" y="365760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3A4A6B"/>
                </a:solidFill>
              </a:rPr>
              <a:t>기능 변경 → Phase A 재순환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3A4A6B"/>
                </a:solidFill>
              </a:rPr>
              <a:t>스택 변경 → Phase B 재순환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57200" y="4983480"/>
            <a:ext cx="8229600" cy="274320"/>
          </a:xfrm>
          <a:prstGeom prst="rect">
            <a:avLst/>
          </a:prstGeom>
          <a:solidFill>
            <a:srgbClr val="FFF3CD"/>
          </a:solidFill>
          <a:ln w="6350">
            <a:solidFill>
              <a:srgbClr val="F9C74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4360" y="498348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35400"/>
                </a:solidFill>
              </a:rPr>
              <a:t>⚡  Phase D는 사용자 OK 신호 수신 이후에만 시작됩니다 — 자동 실행 절대 금지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4F9CF9"/>
                </a:solidFill>
              </a:rPr>
              <a:t>05  PHASE D — AGENT 팀 실행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D — orchestrator 기반 자동 팀 편성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11556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B8D8"/>
                </a:solidFill>
              </a:rPr>
              <a:t>docs/final-approval.md 확인 후에만 실행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905000" y="1508760"/>
            <a:ext cx="2286000" cy="53035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905000" y="150876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orchestrator (Opus)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905000" y="178308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4B8FF"/>
                </a:solidFill>
              </a:rPr>
              <a:t>팀 편성 · TodoList · Routing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2331720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A8B8D8"/>
                </a:solidFill>
              </a:rPr>
              <a:t>병렬 실행 ─────────────────────────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2578608"/>
            <a:ext cx="1572768" cy="548640"/>
          </a:xfrm>
          <a:prstGeom prst="rect">
            <a:avLst/>
          </a:prstGeom>
          <a:solidFill>
            <a:srgbClr val="27C887">
              <a:alpha val="15000"/>
            </a:srgbClr>
          </a:solidFill>
          <a:ln w="19050">
            <a:solidFill>
              <a:srgbClr val="27C88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578608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7C887"/>
                </a:solidFill>
              </a:rPr>
              <a:t>spec-analyst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2871216"/>
            <a:ext cx="1572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8B8D8"/>
                </a:solidFill>
              </a:rPr>
              <a:t>Sonnet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121408" y="2578608"/>
            <a:ext cx="1572768" cy="548640"/>
          </a:xfrm>
          <a:prstGeom prst="rect">
            <a:avLst/>
          </a:prstGeom>
          <a:solidFill>
            <a:srgbClr val="4F9CF9">
              <a:alpha val="15000"/>
            </a:srgbClr>
          </a:solidFill>
          <a:ln w="19050">
            <a:solidFill>
              <a:srgbClr val="4F9CF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121408" y="2578608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F9CF9"/>
                </a:solidFill>
              </a:rPr>
              <a:t>backend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121408" y="2871216"/>
            <a:ext cx="1572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8B8D8"/>
                </a:solidFill>
              </a:rPr>
              <a:t>Sonnet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785616" y="2578608"/>
            <a:ext cx="1572768" cy="548640"/>
          </a:xfrm>
          <a:prstGeom prst="rect">
            <a:avLst/>
          </a:prstGeom>
          <a:solidFill>
            <a:srgbClr val="4F9CF9">
              <a:alpha val="15000"/>
            </a:srgbClr>
          </a:solidFill>
          <a:ln w="19050">
            <a:solidFill>
              <a:srgbClr val="4F9CF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785616" y="2578608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F9CF9"/>
                </a:solidFill>
              </a:rPr>
              <a:t>frontend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785616" y="2871216"/>
            <a:ext cx="1572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8B8D8"/>
                </a:solidFill>
              </a:rPr>
              <a:t>Sonnet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449824" y="2578608"/>
            <a:ext cx="1572768" cy="548640"/>
          </a:xfrm>
          <a:prstGeom prst="rect">
            <a:avLst/>
          </a:prstGeom>
          <a:solidFill>
            <a:srgbClr val="4F9CF9">
              <a:alpha val="15000"/>
            </a:srgbClr>
          </a:solidFill>
          <a:ln w="19050">
            <a:solidFill>
              <a:srgbClr val="4F9CF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49824" y="2578608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F9CF9"/>
                </a:solidFill>
              </a:rPr>
              <a:t>database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449824" y="2871216"/>
            <a:ext cx="1572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8B8D8"/>
                </a:solidFill>
              </a:rPr>
              <a:t>Sonnet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7114032" y="2578608"/>
            <a:ext cx="1572768" cy="548640"/>
          </a:xfrm>
          <a:prstGeom prst="rect">
            <a:avLst/>
          </a:prstGeom>
          <a:solidFill>
            <a:srgbClr val="F9C74F">
              <a:alpha val="15000"/>
            </a:srgbClr>
          </a:solidFill>
          <a:ln w="19050">
            <a:solidFill>
              <a:srgbClr val="F9C74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114032" y="2578608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9C74F"/>
                </a:solidFill>
              </a:rPr>
              <a:t>security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114032" y="2871216"/>
            <a:ext cx="1572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8B8D8"/>
                </a:solidFill>
              </a:rPr>
              <a:t>Opus (BG)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57200" y="3310128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A8B8D8"/>
                </a:solidFill>
              </a:rPr>
              <a:t>순차 실행 ─────────────────────────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57200" y="3557016"/>
            <a:ext cx="1920240" cy="548640"/>
          </a:xfrm>
          <a:prstGeom prst="rect">
            <a:avLst/>
          </a:prstGeom>
          <a:solidFill>
            <a:srgbClr val="10B981">
              <a:alpha val="15000"/>
            </a:srgbClr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3557016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B981"/>
                </a:solidFill>
              </a:rPr>
              <a:t>test-automator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57200" y="3849624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8B8D8"/>
                </a:solidFill>
              </a:rPr>
              <a:t>Haiku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2377440" y="3831336"/>
            <a:ext cx="685800" cy="0"/>
          </a:xfrm>
          <a:prstGeom prst="line">
            <a:avLst/>
          </a:prstGeom>
          <a:noFill/>
          <a:ln w="12700">
            <a:solidFill>
              <a:srgbClr val="A8B8D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606040" y="3557016"/>
            <a:ext cx="1920240" cy="548640"/>
          </a:xfrm>
          <a:prstGeom prst="rect">
            <a:avLst/>
          </a:prstGeom>
          <a:solidFill>
            <a:srgbClr val="27C887">
              <a:alpha val="15000"/>
            </a:srgbClr>
          </a:solidFill>
          <a:ln w="19050">
            <a:solidFill>
              <a:srgbClr val="27C88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606040" y="3557016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7C887"/>
                </a:solidFill>
              </a:rPr>
              <a:t>devops-engineer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2606040" y="3849624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8B8D8"/>
                </a:solidFill>
              </a:rPr>
              <a:t>Sonnet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526280" y="3831336"/>
            <a:ext cx="685800" cy="0"/>
          </a:xfrm>
          <a:prstGeom prst="line">
            <a:avLst/>
          </a:prstGeom>
          <a:noFill/>
          <a:ln w="12700">
            <a:solidFill>
              <a:srgbClr val="A8B8D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754880" y="3557016"/>
            <a:ext cx="1920240" cy="548640"/>
          </a:xfrm>
          <a:prstGeom prst="rect">
            <a:avLst/>
          </a:prstGeom>
          <a:solidFill>
            <a:srgbClr val="EF4444">
              <a:alpha val="15000"/>
            </a:srgbClr>
          </a:solidFill>
          <a:ln w="19050">
            <a:solidFill>
              <a:srgbClr val="EF444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754880" y="3557016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F4444"/>
                </a:solidFill>
              </a:rPr>
              <a:t>code-reviewer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754880" y="3849624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8B8D8"/>
                </a:solidFill>
              </a:rPr>
              <a:t>Opus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6903720" y="3557016"/>
            <a:ext cx="1783080" cy="548640"/>
          </a:xfrm>
          <a:prstGeom prst="rect">
            <a:avLst/>
          </a:prstGeom>
          <a:solidFill>
            <a:srgbClr val="27C887"/>
          </a:solidFill>
          <a:ln w="12700">
            <a:solidFill>
              <a:srgbClr val="27C88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903720" y="3557016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ZIP / Git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패키징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675120" y="3831336"/>
            <a:ext cx="228600" cy="0"/>
          </a:xfrm>
          <a:prstGeom prst="line">
            <a:avLst/>
          </a:prstGeom>
          <a:noFill/>
          <a:ln w="12700">
            <a:solidFill>
              <a:srgbClr val="A8B8D8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57200" y="4297680"/>
            <a:ext cx="8229600" cy="548640"/>
          </a:xfrm>
          <a:prstGeom prst="rect">
            <a:avLst/>
          </a:prstGeom>
          <a:solidFill>
            <a:srgbClr val="EEF2FF"/>
          </a:solidFill>
          <a:ln w="6350">
            <a:solidFill>
              <a:srgbClr val="D0D8F8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40080" y="4462272"/>
            <a:ext cx="164592" cy="164592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914400" y="4425696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744"/>
                </a:solidFill>
              </a:rPr>
              <a:t>Opus: 복잡 추론 (orchestrator·security·reviewer)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3383280" y="4462272"/>
            <a:ext cx="164592" cy="164592"/>
          </a:xfrm>
          <a:prstGeom prst="ellipse">
            <a:avLst/>
          </a:prstGeom>
          <a:solidFill>
            <a:srgbClr val="4F9CF9"/>
          </a:solidFill>
          <a:ln w="12700">
            <a:solidFill>
              <a:srgbClr val="4F9CF9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657600" y="4425696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744"/>
                </a:solidFill>
              </a:rPr>
              <a:t>Sonnet: 일반 개발 (backend·frontend·db·devops)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6126480" y="4462272"/>
            <a:ext cx="164592" cy="16459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400800" y="4425696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744"/>
                </a:solidFill>
              </a:rPr>
              <a:t>Haiku: 빠른 반복 (test-automator)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4F9CF9"/>
                </a:solidFill>
              </a:rPr>
              <a:t>05  END-TO-END FLOW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전체 End-to-End 플로우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2011680" cy="3383280"/>
          </a:xfrm>
          <a:prstGeom prst="rect">
            <a:avLst/>
          </a:prstGeom>
          <a:solidFill>
            <a:srgbClr val="243160"/>
          </a:solidFill>
          <a:ln w="19050">
            <a:solidFill>
              <a:srgbClr val="8B5CF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508760"/>
            <a:ext cx="2011680" cy="7315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207008" y="1664208"/>
            <a:ext cx="502920" cy="50292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07008" y="16642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A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224942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5CF6"/>
                </a:solidFill>
              </a:rPr>
              <a:t>Phase A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2523744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대화 수집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7200" y="2871216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8B8D8"/>
                </a:solidFill>
              </a:rPr>
              <a:t>LLM 대화 → 요구사항 추출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21792" y="3374136"/>
            <a:ext cx="91440" cy="9144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3291840"/>
            <a:ext cx="1600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CADCFC"/>
                </a:solidFill>
              </a:rPr>
              <a:t>자연어 대화 입력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21792" y="3831336"/>
            <a:ext cx="91440" cy="9144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3749040"/>
            <a:ext cx="1600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CADCFC"/>
                </a:solidFill>
              </a:rPr>
              <a:t>내부/외부 LLM 선택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21792" y="4288536"/>
            <a:ext cx="91440" cy="9144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" y="4206240"/>
            <a:ext cx="1600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CADCFC"/>
                </a:solidFill>
              </a:rPr>
              <a:t>"서비스 시작" 버튼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468880" y="2724912"/>
            <a:ext cx="164592" cy="0"/>
          </a:xfrm>
          <a:prstGeom prst="line">
            <a:avLst/>
          </a:prstGeom>
          <a:noFill/>
          <a:ln w="19050">
            <a:solidFill>
              <a:srgbClr val="8B5CF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633472" y="1508760"/>
            <a:ext cx="2011680" cy="3383280"/>
          </a:xfrm>
          <a:prstGeom prst="rect">
            <a:avLst/>
          </a:prstGeom>
          <a:solidFill>
            <a:srgbClr val="243160"/>
          </a:solidFill>
          <a:ln w="19050">
            <a:solidFill>
              <a:srgbClr val="4F9CF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633472" y="1508760"/>
            <a:ext cx="2011680" cy="73152"/>
          </a:xfrm>
          <a:prstGeom prst="rect">
            <a:avLst/>
          </a:prstGeom>
          <a:solidFill>
            <a:srgbClr val="4F9CF9"/>
          </a:solidFill>
          <a:ln w="12700">
            <a:solidFill>
              <a:srgbClr val="4F9CF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383280" y="1664208"/>
            <a:ext cx="502920" cy="502920"/>
          </a:xfrm>
          <a:prstGeom prst="ellipse">
            <a:avLst/>
          </a:prstGeom>
          <a:solidFill>
            <a:srgbClr val="4F9CF9"/>
          </a:solidFill>
          <a:ln w="12700">
            <a:solidFill>
              <a:srgbClr val="4F9CF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383280" y="16642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B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2633472" y="224942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F9CF9"/>
                </a:solidFill>
              </a:rPr>
              <a:t>Phase B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633472" y="2523744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스택 선택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2633472" y="2871216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8B8D8"/>
                </a:solidFill>
              </a:rPr>
              <a:t>기술·방향·도메인 선택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798064" y="3374136"/>
            <a:ext cx="91440" cy="91440"/>
          </a:xfrm>
          <a:prstGeom prst="ellipse">
            <a:avLst/>
          </a:prstGeom>
          <a:solidFill>
            <a:srgbClr val="4F9CF9"/>
          </a:solidFill>
          <a:ln w="12700">
            <a:solidFill>
              <a:srgbClr val="4F9CF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53512" y="3291840"/>
            <a:ext cx="1600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CADCFC"/>
                </a:solidFill>
              </a:rPr>
              <a:t>Web/DB/Backend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798064" y="3831336"/>
            <a:ext cx="91440" cy="91440"/>
          </a:xfrm>
          <a:prstGeom prst="ellipse">
            <a:avLst/>
          </a:prstGeom>
          <a:solidFill>
            <a:srgbClr val="4F9CF9"/>
          </a:solidFill>
          <a:ln w="12700">
            <a:solidFill>
              <a:srgbClr val="4F9CF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953512" y="3749040"/>
            <a:ext cx="1600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CADCFC"/>
                </a:solidFill>
              </a:rPr>
              <a:t>언어 (C,C++,Java,Python,JS)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798064" y="4288536"/>
            <a:ext cx="91440" cy="91440"/>
          </a:xfrm>
          <a:prstGeom prst="ellipse">
            <a:avLst/>
          </a:prstGeom>
          <a:solidFill>
            <a:srgbClr val="4F9CF9"/>
          </a:solidFill>
          <a:ln w="12700">
            <a:solidFill>
              <a:srgbClr val="4F9CF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953512" y="4206240"/>
            <a:ext cx="1600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CADCFC"/>
                </a:solidFill>
              </a:rPr>
              <a:t>도메인·품질 수준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645152" y="2724912"/>
            <a:ext cx="164592" cy="0"/>
          </a:xfrm>
          <a:prstGeom prst="line">
            <a:avLst/>
          </a:prstGeom>
          <a:noFill/>
          <a:ln w="19050">
            <a:solidFill>
              <a:srgbClr val="4F9CF9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809744" y="1508760"/>
            <a:ext cx="2011680" cy="3383280"/>
          </a:xfrm>
          <a:prstGeom prst="rect">
            <a:avLst/>
          </a:prstGeom>
          <a:solidFill>
            <a:srgbClr val="243160"/>
          </a:solidFill>
          <a:ln w="19050">
            <a:solidFill>
              <a:srgbClr val="F9C74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809744" y="1508760"/>
            <a:ext cx="2011680" cy="73152"/>
          </a:xfrm>
          <a:prstGeom prst="rect">
            <a:avLst/>
          </a:prstGeom>
          <a:solidFill>
            <a:srgbClr val="F9C74F"/>
          </a:solidFill>
          <a:ln w="12700">
            <a:solidFill>
              <a:srgbClr val="F9C74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559552" y="1664208"/>
            <a:ext cx="502920" cy="502920"/>
          </a:xfrm>
          <a:prstGeom prst="ellipse">
            <a:avLst/>
          </a:prstGeom>
          <a:solidFill>
            <a:srgbClr val="F9C74F"/>
          </a:solidFill>
          <a:ln w="12700">
            <a:solidFill>
              <a:srgbClr val="F9C74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559552" y="16642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C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4809744" y="224942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9C74F"/>
                </a:solidFill>
              </a:rPr>
              <a:t>Phase C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809744" y="2523744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검토 승인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4809744" y="2871216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8B8D8"/>
                </a:solidFill>
              </a:rPr>
              <a:t>요약 → OK / 수정 분기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974336" y="3374136"/>
            <a:ext cx="91440" cy="91440"/>
          </a:xfrm>
          <a:prstGeom prst="ellipse">
            <a:avLst/>
          </a:prstGeom>
          <a:solidFill>
            <a:srgbClr val="F9C74F"/>
          </a:solidFill>
          <a:ln w="12700">
            <a:solidFill>
              <a:srgbClr val="F9C74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129784" y="3291840"/>
            <a:ext cx="1600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CADCFC"/>
                </a:solidFill>
              </a:rPr>
              <a:t>최종 요약본 제시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974336" y="3831336"/>
            <a:ext cx="91440" cy="91440"/>
          </a:xfrm>
          <a:prstGeom prst="ellipse">
            <a:avLst/>
          </a:prstGeom>
          <a:solidFill>
            <a:srgbClr val="F9C74F"/>
          </a:solidFill>
          <a:ln w="12700">
            <a:solidFill>
              <a:srgbClr val="F9C74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129784" y="3749040"/>
            <a:ext cx="1600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CADCFC"/>
                </a:solidFill>
              </a:rPr>
              <a:t>OK → Phase D 시작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4974336" y="4288536"/>
            <a:ext cx="91440" cy="91440"/>
          </a:xfrm>
          <a:prstGeom prst="ellipse">
            <a:avLst/>
          </a:prstGeom>
          <a:solidFill>
            <a:srgbClr val="F9C74F"/>
          </a:solidFill>
          <a:ln w="12700">
            <a:solidFill>
              <a:srgbClr val="F9C74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129784" y="4206240"/>
            <a:ext cx="1600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CADCFC"/>
                </a:solidFill>
              </a:rPr>
              <a:t>수정 → 해당 Phase 재순환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6821424" y="2724912"/>
            <a:ext cx="164592" cy="0"/>
          </a:xfrm>
          <a:prstGeom prst="line">
            <a:avLst/>
          </a:prstGeom>
          <a:noFill/>
          <a:ln w="19050">
            <a:solidFill>
              <a:srgbClr val="F9C74F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986016" y="1508760"/>
            <a:ext cx="2011680" cy="3383280"/>
          </a:xfrm>
          <a:prstGeom prst="rect">
            <a:avLst/>
          </a:prstGeom>
          <a:solidFill>
            <a:srgbClr val="243160"/>
          </a:solidFill>
          <a:ln w="19050">
            <a:solidFill>
              <a:srgbClr val="27C887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986016" y="1508760"/>
            <a:ext cx="2011680" cy="73152"/>
          </a:xfrm>
          <a:prstGeom prst="rect">
            <a:avLst/>
          </a:prstGeom>
          <a:solidFill>
            <a:srgbClr val="27C887"/>
          </a:solidFill>
          <a:ln w="12700">
            <a:solidFill>
              <a:srgbClr val="27C887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7735824" y="1664208"/>
            <a:ext cx="502920" cy="502920"/>
          </a:xfrm>
          <a:prstGeom prst="ellipse">
            <a:avLst/>
          </a:prstGeom>
          <a:solidFill>
            <a:srgbClr val="27C887"/>
          </a:solidFill>
          <a:ln w="12700">
            <a:solidFill>
              <a:srgbClr val="27C88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735824" y="16642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D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6986016" y="224942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7C887"/>
                </a:solidFill>
              </a:rPr>
              <a:t>Phase D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6986016" y="2523744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코드 생성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6986016" y="2871216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8B8D8"/>
                </a:solidFill>
              </a:rPr>
              <a:t>Agent 팀 병렬 실행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7150608" y="3374136"/>
            <a:ext cx="91440" cy="91440"/>
          </a:xfrm>
          <a:prstGeom prst="ellipse">
            <a:avLst/>
          </a:prstGeom>
          <a:solidFill>
            <a:srgbClr val="27C887"/>
          </a:solidFill>
          <a:ln w="12700">
            <a:solidFill>
              <a:srgbClr val="27C88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306056" y="3291840"/>
            <a:ext cx="1600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CADCFC"/>
                </a:solidFill>
              </a:rPr>
              <a:t>orchestrator 팀 편성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7150608" y="3831336"/>
            <a:ext cx="91440" cy="91440"/>
          </a:xfrm>
          <a:prstGeom prst="ellipse">
            <a:avLst/>
          </a:prstGeom>
          <a:solidFill>
            <a:srgbClr val="27C887"/>
          </a:solidFill>
          <a:ln w="12700">
            <a:solidFill>
              <a:srgbClr val="27C887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306056" y="3749040"/>
            <a:ext cx="1600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CADCFC"/>
                </a:solidFill>
              </a:rPr>
              <a:t>병렬·순차 실행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7150608" y="4288536"/>
            <a:ext cx="91440" cy="91440"/>
          </a:xfrm>
          <a:prstGeom prst="ellipse">
            <a:avLst/>
          </a:prstGeom>
          <a:solidFill>
            <a:srgbClr val="27C887"/>
          </a:solidFill>
          <a:ln w="12700">
            <a:solidFill>
              <a:srgbClr val="27C887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7306056" y="4206240"/>
            <a:ext cx="1600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CADCFC"/>
                </a:solidFill>
              </a:rPr>
              <a:t>ZIP/Git 결과물 제공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4F9CF9"/>
                </a:solidFill>
              </a:rPr>
              <a:t>06  SYSTEM ARCHITECTURE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시스템 아키텍처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481328"/>
            <a:ext cx="8229600" cy="475488"/>
          </a:xfrm>
          <a:prstGeom prst="rect">
            <a:avLst/>
          </a:prstGeom>
          <a:solidFill>
            <a:srgbClr val="243160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481328"/>
            <a:ext cx="54864" cy="47548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481328"/>
            <a:ext cx="365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5CF6"/>
                </a:solidFill>
              </a:rPr>
              <a:t>01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960120" y="148132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사용자 웹 UI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749040" y="1481328"/>
            <a:ext cx="4846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B8D8"/>
                </a:solidFill>
              </a:rPr>
              <a:t>대화 입력 · 스택 선택 · 요약 검토 · ZIP 다운로드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480560" y="1956816"/>
            <a:ext cx="0" cy="54864"/>
          </a:xfrm>
          <a:prstGeom prst="line">
            <a:avLst/>
          </a:prstGeom>
          <a:noFill/>
          <a:ln w="12700">
            <a:solidFill>
              <a:srgbClr val="8B5CF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1993392"/>
            <a:ext cx="8229600" cy="475488"/>
          </a:xfrm>
          <a:prstGeom prst="rect">
            <a:avLst/>
          </a:prstGeom>
          <a:solidFill>
            <a:srgbClr val="243160"/>
          </a:solidFill>
          <a:ln w="12700">
            <a:solidFill>
              <a:srgbClr val="4F9CF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1993392"/>
            <a:ext cx="54864" cy="475488"/>
          </a:xfrm>
          <a:prstGeom prst="rect">
            <a:avLst/>
          </a:prstGeom>
          <a:solidFill>
            <a:srgbClr val="4F9CF9"/>
          </a:solidFill>
          <a:ln w="12700">
            <a:solidFill>
              <a:srgbClr val="4F9CF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1993392"/>
            <a:ext cx="365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F9CF9"/>
                </a:solidFill>
              </a:rPr>
              <a:t>02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960120" y="1993392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플랫폼 백엔드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749040" y="1993392"/>
            <a:ext cx="4846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B8D8"/>
                </a:solidFill>
              </a:rPr>
              <a:t>FastAPI · LLM 연동 · Phase 관리 · 승인 게이트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480560" y="2468880"/>
            <a:ext cx="0" cy="54864"/>
          </a:xfrm>
          <a:prstGeom prst="line">
            <a:avLst/>
          </a:prstGeom>
          <a:noFill/>
          <a:ln w="12700">
            <a:solidFill>
              <a:srgbClr val="4F9CF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2505456"/>
            <a:ext cx="8229600" cy="475488"/>
          </a:xfrm>
          <a:prstGeom prst="rect">
            <a:avLst/>
          </a:prstGeom>
          <a:solidFill>
            <a:srgbClr val="243160"/>
          </a:solidFill>
          <a:ln w="12700">
            <a:solidFill>
              <a:srgbClr val="27C88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2505456"/>
            <a:ext cx="54864" cy="475488"/>
          </a:xfrm>
          <a:prstGeom prst="rect">
            <a:avLst/>
          </a:prstGeom>
          <a:solidFill>
            <a:srgbClr val="27C887"/>
          </a:solidFill>
          <a:ln w="12700">
            <a:solidFill>
              <a:srgbClr val="27C88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2505456"/>
            <a:ext cx="365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7C887"/>
                </a:solidFill>
              </a:rPr>
              <a:t>03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960120" y="2505456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Claude Code OS 레이어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749040" y="2505456"/>
            <a:ext cx="4846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B8D8"/>
                </a:solidFill>
              </a:rPr>
              <a:t>~/.claude/agents/ · skills/ · commands/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480560" y="2980944"/>
            <a:ext cx="0" cy="54864"/>
          </a:xfrm>
          <a:prstGeom prst="line">
            <a:avLst/>
          </a:prstGeom>
          <a:noFill/>
          <a:ln w="12700">
            <a:solidFill>
              <a:srgbClr val="27C88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" y="3017520"/>
            <a:ext cx="8229600" cy="475488"/>
          </a:xfrm>
          <a:prstGeom prst="rect">
            <a:avLst/>
          </a:prstGeom>
          <a:solidFill>
            <a:srgbClr val="243160"/>
          </a:solidFill>
          <a:ln w="12700">
            <a:solidFill>
              <a:srgbClr val="F9C74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3017520"/>
            <a:ext cx="54864" cy="475488"/>
          </a:xfrm>
          <a:prstGeom prst="rect">
            <a:avLst/>
          </a:prstGeom>
          <a:solidFill>
            <a:srgbClr val="F9C74F"/>
          </a:solidFill>
          <a:ln w="12700">
            <a:solidFill>
              <a:srgbClr val="F9C74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" y="3017520"/>
            <a:ext cx="365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9C74F"/>
                </a:solidFill>
              </a:rPr>
              <a:t>04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960120" y="3017520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격리 프로젝트 가상환경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3749040" y="3017520"/>
            <a:ext cx="4846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B8D8"/>
                </a:solidFill>
              </a:rPr>
              <a:t>/workspace/{uuid}/ · CLAUDE.md · Agent 팀 실행 · Checkpointing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480560" y="3493008"/>
            <a:ext cx="0" cy="54864"/>
          </a:xfrm>
          <a:prstGeom prst="line">
            <a:avLst/>
          </a:prstGeom>
          <a:noFill/>
          <a:ln w="12700">
            <a:solidFill>
              <a:srgbClr val="F9C74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57200" y="3529584"/>
            <a:ext cx="8229600" cy="475488"/>
          </a:xfrm>
          <a:prstGeom prst="rect">
            <a:avLst/>
          </a:prstGeom>
          <a:solidFill>
            <a:srgbClr val="243160"/>
          </a:solidFill>
          <a:ln w="12700">
            <a:solidFill>
              <a:srgbClr val="F8706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57200" y="3529584"/>
            <a:ext cx="54864" cy="475488"/>
          </a:xfrm>
          <a:prstGeom prst="rect">
            <a:avLst/>
          </a:prstGeom>
          <a:solidFill>
            <a:srgbClr val="F87060"/>
          </a:solidFill>
          <a:ln w="12700">
            <a:solidFill>
              <a:srgbClr val="F8706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8640" y="3529584"/>
            <a:ext cx="365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87060"/>
                </a:solidFill>
              </a:rPr>
              <a:t>05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960120" y="3529584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사용자 로컬 (POC)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3749040" y="3529584"/>
            <a:ext cx="4846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B8D8"/>
                </a:solidFill>
              </a:rPr>
              <a:t>docker-compose up -d · http://localhost:3000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57200" y="4160520"/>
            <a:ext cx="8229600" cy="457200"/>
          </a:xfrm>
          <a:prstGeom prst="rect">
            <a:avLst/>
          </a:prstGeom>
          <a:solidFill>
            <a:srgbClr val="1A0A0A"/>
          </a:solidFill>
          <a:ln w="12700">
            <a:solidFill>
              <a:srgbClr val="F8706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0080" y="416052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7060"/>
                </a:solidFill>
              </a:rPr>
              <a:t>🔒  .claude/agents/ 는 ZIP 패키징에서 절대 제외  |  Phase D는 final-approval.md 이후에만 시작  |  API 키는 서버 사이드 전용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57200" y="4736592"/>
            <a:ext cx="8229600" cy="502920"/>
          </a:xfrm>
          <a:prstGeom prst="rect">
            <a:avLst/>
          </a:prstGeom>
          <a:solidFill>
            <a:srgbClr val="243160"/>
          </a:solidFill>
          <a:ln w="6350">
            <a:solidFill>
              <a:srgbClr val="444F6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94360" y="4736592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</a:rPr>
              <a:t>.claude/agents/: conversation-collector · stack-selector · review-presenter · orchestrator · spec-analyst · backend · frontend · database · security · test · devops · code-reviewer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4F9CF9"/>
                </a:solidFill>
              </a:rPr>
              <a:t>07  LLM 연동 전략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연동 전략 — 내부 / 외부 전환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4114800" cy="3337560"/>
          </a:xfrm>
          <a:prstGeom prst="rect">
            <a:avLst/>
          </a:prstGeom>
          <a:solidFill>
            <a:srgbClr val="FAFB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508760"/>
            <a:ext cx="4114800" cy="54864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609344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44"/>
                </a:solidFill>
              </a:rPr>
              <a:t>내부 LLM (폐쇄망)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0" y="1627632"/>
            <a:ext cx="1234440" cy="219456"/>
          </a:xfrm>
          <a:prstGeom prst="roundRect">
            <a:avLst>
              <a:gd name="adj" fmla="val 16667"/>
            </a:avLst>
          </a:prstGeom>
          <a:solidFill>
            <a:srgbClr val="8B5CF6">
              <a:alpha val="20000"/>
            </a:srgbClr>
          </a:solidFill>
          <a:ln w="6350">
            <a:solidFill>
              <a:srgbClr val="8B5C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0" y="1627632"/>
            <a:ext cx="1234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B5CF6"/>
                </a:solidFill>
              </a:rPr>
              <a:t>KT DS 내부망 지원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621792" y="2075688"/>
            <a:ext cx="91440" cy="9144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199339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4A6B"/>
                </a:solidFill>
              </a:rPr>
              <a:t>Ollama 기반 Local LLM 실행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21792" y="2478024"/>
            <a:ext cx="91440" cy="9144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239572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4A6B"/>
                </a:solidFill>
              </a:rPr>
              <a:t>llama3.1:70b / mistral / codestral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21792" y="2880360"/>
            <a:ext cx="91440" cy="9144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2798064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4A6B"/>
                </a:solidFill>
              </a:rPr>
              <a:t>완전 오프라인 · 인터넷 차단 환경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21792" y="3282696"/>
            <a:ext cx="91440" cy="9144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" y="32004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4A6B"/>
                </a:solidFill>
              </a:rPr>
              <a:t>단순 .env 변수 전환으로 전환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21792" y="3685032"/>
            <a:ext cx="91440" cy="9144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" y="3602736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4A6B"/>
                </a:solidFill>
              </a:rPr>
              <a:t>데이터 외부 유출 없음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94360" y="4041648"/>
            <a:ext cx="3794760" cy="713232"/>
          </a:xfrm>
          <a:prstGeom prst="rect">
            <a:avLst/>
          </a:prstGeom>
          <a:solidFill>
            <a:srgbClr val="0D1B36"/>
          </a:solidFill>
          <a:ln w="6350">
            <a:solidFill>
              <a:srgbClr val="8B5CF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5800" y="4078224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LLM_MODE=internal</a:t>
            </a:r>
            <a:endParaRPr lang="en-US" sz="9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INTERNAL_LLM_URL=http://ollama:11434</a:t>
            </a:r>
            <a:endParaRPr lang="en-US" sz="9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INTERNAL_LLM_MODEL=llama3.1:70b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800600" y="1508760"/>
            <a:ext cx="4114800" cy="3337560"/>
          </a:xfrm>
          <a:prstGeom prst="rect">
            <a:avLst/>
          </a:prstGeom>
          <a:solidFill>
            <a:srgbClr val="FAFB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800600" y="1508760"/>
            <a:ext cx="4114800" cy="54864"/>
          </a:xfrm>
          <a:prstGeom prst="rect">
            <a:avLst/>
          </a:prstGeom>
          <a:solidFill>
            <a:srgbClr val="27C887"/>
          </a:solidFill>
          <a:ln w="12700">
            <a:solidFill>
              <a:srgbClr val="27C88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37760" y="1609344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44"/>
                </a:solidFill>
              </a:rPr>
              <a:t>외부 LLM (Claude API)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7543800" y="1627632"/>
            <a:ext cx="1234440" cy="219456"/>
          </a:xfrm>
          <a:prstGeom prst="roundRect">
            <a:avLst>
              <a:gd name="adj" fmla="val 16667"/>
            </a:avLst>
          </a:prstGeom>
          <a:solidFill>
            <a:srgbClr val="27C887">
              <a:alpha val="20000"/>
            </a:srgbClr>
          </a:solidFill>
          <a:ln w="6350">
            <a:solidFill>
              <a:srgbClr val="27C88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543800" y="1627632"/>
            <a:ext cx="1234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7C887"/>
                </a:solidFill>
              </a:rPr>
              <a:t>고품질 대화 · 추론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4965192" y="2075688"/>
            <a:ext cx="91440" cy="91440"/>
          </a:xfrm>
          <a:prstGeom prst="ellipse">
            <a:avLst/>
          </a:prstGeom>
          <a:solidFill>
            <a:srgbClr val="27C887"/>
          </a:solidFill>
          <a:ln w="12700">
            <a:solidFill>
              <a:srgbClr val="27C88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120640" y="199339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4A6B"/>
                </a:solidFill>
              </a:rPr>
              <a:t>Anthropic Claude API 연동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965192" y="2478024"/>
            <a:ext cx="91440" cy="91440"/>
          </a:xfrm>
          <a:prstGeom prst="ellipse">
            <a:avLst/>
          </a:prstGeom>
          <a:solidFill>
            <a:srgbClr val="27C887"/>
          </a:solidFill>
          <a:ln w="12700">
            <a:solidFill>
              <a:srgbClr val="27C88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120640" y="239572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4A6B"/>
                </a:solidFill>
              </a:rPr>
              <a:t>대화용: claude-sonnet-4-6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965192" y="2880360"/>
            <a:ext cx="91440" cy="91440"/>
          </a:xfrm>
          <a:prstGeom prst="ellipse">
            <a:avLst/>
          </a:prstGeom>
          <a:solidFill>
            <a:srgbClr val="27C887"/>
          </a:solidFill>
          <a:ln w="12700">
            <a:solidFill>
              <a:srgbClr val="27C88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120640" y="2798064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4A6B"/>
                </a:solidFill>
              </a:rPr>
              <a:t>Agent 실행: claude-opus-4-5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965192" y="3282696"/>
            <a:ext cx="91440" cy="91440"/>
          </a:xfrm>
          <a:prstGeom prst="ellipse">
            <a:avLst/>
          </a:prstGeom>
          <a:solidFill>
            <a:srgbClr val="27C887"/>
          </a:solidFill>
          <a:ln w="12700">
            <a:solidFill>
              <a:srgbClr val="27C88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120640" y="32004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4A6B"/>
                </a:solidFill>
              </a:rPr>
              <a:t>테스트: claude-haiku-4-5 (비용 절감)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965192" y="3685032"/>
            <a:ext cx="91440" cy="91440"/>
          </a:xfrm>
          <a:prstGeom prst="ellipse">
            <a:avLst/>
          </a:prstGeom>
          <a:solidFill>
            <a:srgbClr val="27C887"/>
          </a:solidFill>
          <a:ln w="12700">
            <a:solidFill>
              <a:srgbClr val="27C88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120640" y="3602736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4A6B"/>
                </a:solidFill>
              </a:rPr>
              <a:t>.env ANTHROPIC_API_KEY 설정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937760" y="4041648"/>
            <a:ext cx="3794760" cy="713232"/>
          </a:xfrm>
          <a:prstGeom prst="rect">
            <a:avLst/>
          </a:prstGeom>
          <a:solidFill>
            <a:srgbClr val="0D1B36"/>
          </a:solidFill>
          <a:ln w="6350">
            <a:solidFill>
              <a:srgbClr val="27C88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029200" y="4078224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LLM_MODE=external</a:t>
            </a:r>
            <a:endParaRPr lang="en-US" sz="9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ANTHROPIC_API_KEY=sk-ant-...</a:t>
            </a:r>
            <a:endParaRPr lang="en-US" sz="9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CONVERSATION_MODEL=claude-sonnet-4-6</a:t>
            </a:r>
            <a:endParaRPr lang="en-US" sz="9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AGENT_MODEL=claude-opus-4-5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4F9CF9"/>
                </a:solidFill>
              </a:rPr>
              <a:t>07  DEVELOPMENT ROADMAP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개발 로드맵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1155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B8D8"/>
                </a:solidFill>
              </a:rPr>
              <a:t>3-Phase 점진적 구축 전략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508760"/>
            <a:ext cx="2743200" cy="3383280"/>
          </a:xfrm>
          <a:prstGeom prst="rect">
            <a:avLst/>
          </a:prstGeom>
          <a:solidFill>
            <a:srgbClr val="243160"/>
          </a:solidFill>
          <a:ln w="19050">
            <a:solidFill>
              <a:srgbClr val="4F9CF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508760"/>
            <a:ext cx="2743200" cy="73152"/>
          </a:xfrm>
          <a:prstGeom prst="rect">
            <a:avLst/>
          </a:prstGeom>
          <a:solidFill>
            <a:srgbClr val="4F9CF9"/>
          </a:solidFill>
          <a:ln w="12700">
            <a:solidFill>
              <a:srgbClr val="4F9CF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58191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F9CF9"/>
                </a:solidFill>
              </a:rPr>
              <a:t>Phase 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94360" y="181051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B8D8"/>
                </a:solidFill>
              </a:rPr>
              <a:t>1~2개월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94360" y="2084832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대화·선택 엔진 MVP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21792" y="2633472"/>
            <a:ext cx="91440" cy="91440"/>
          </a:xfrm>
          <a:prstGeom prst="ellipse">
            <a:avLst/>
          </a:prstGeom>
          <a:solidFill>
            <a:srgbClr val="4F9CF9"/>
          </a:solidFill>
          <a:ln w="12700">
            <a:solidFill>
              <a:srgbClr val="4F9CF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2560320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ADCFC"/>
                </a:solidFill>
              </a:rPr>
              <a:t>conversation-collector (내부/외부 LLM)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1792" y="3090672"/>
            <a:ext cx="91440" cy="91440"/>
          </a:xfrm>
          <a:prstGeom prst="ellipse">
            <a:avLst/>
          </a:prstGeom>
          <a:solidFill>
            <a:srgbClr val="4F9CF9"/>
          </a:solidFill>
          <a:ln w="12700">
            <a:solidFill>
              <a:srgbClr val="4F9CF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3017520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ADCFC"/>
                </a:solidFill>
              </a:rPr>
              <a:t>stack-selector 선택 UI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1792" y="3547872"/>
            <a:ext cx="91440" cy="91440"/>
          </a:xfrm>
          <a:prstGeom prst="ellipse">
            <a:avLst/>
          </a:prstGeom>
          <a:solidFill>
            <a:srgbClr val="4F9CF9"/>
          </a:solidFill>
          <a:ln w="12700">
            <a:solidFill>
              <a:srgbClr val="4F9CF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3474720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ADCFC"/>
                </a:solidFill>
              </a:rPr>
              <a:t>review-presenter 요약·승인 게이트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21792" y="4005072"/>
            <a:ext cx="91440" cy="91440"/>
          </a:xfrm>
          <a:prstGeom prst="ellipse">
            <a:avLst/>
          </a:prstGeom>
          <a:solidFill>
            <a:srgbClr val="4F9CF9"/>
          </a:solidFill>
          <a:ln w="12700">
            <a:solidFill>
              <a:srgbClr val="4F9CF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3931920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ADCFC"/>
                </a:solidFill>
              </a:rPr>
              <a:t>orchestrator + 핵심 에이전트 8종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21792" y="4462272"/>
            <a:ext cx="91440" cy="91440"/>
          </a:xfrm>
          <a:prstGeom prst="ellipse">
            <a:avLst/>
          </a:prstGeom>
          <a:solidFill>
            <a:srgbClr val="4F9CF9"/>
          </a:solidFill>
          <a:ln w="12700">
            <a:solidFill>
              <a:srgbClr val="4F9CF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7240" y="4389120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ADCFC"/>
                </a:solidFill>
              </a:rPr>
              <a:t>ZIP 패키징 (.claude/ 제외)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364992" y="1508760"/>
            <a:ext cx="2743200" cy="3383280"/>
          </a:xfrm>
          <a:prstGeom prst="rect">
            <a:avLst/>
          </a:prstGeom>
          <a:solidFill>
            <a:srgbClr val="243160"/>
          </a:solidFill>
          <a:ln w="19050">
            <a:solidFill>
              <a:srgbClr val="27C88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364992" y="1508760"/>
            <a:ext cx="2743200" cy="73152"/>
          </a:xfrm>
          <a:prstGeom prst="rect">
            <a:avLst/>
          </a:prstGeom>
          <a:solidFill>
            <a:srgbClr val="27C887"/>
          </a:solidFill>
          <a:ln w="12700">
            <a:solidFill>
              <a:srgbClr val="27C88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502152" y="158191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7C887"/>
                </a:solidFill>
              </a:rPr>
              <a:t>Phase 2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502152" y="181051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B8D8"/>
                </a:solidFill>
              </a:rPr>
              <a:t>2~3개월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502152" y="2084832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팀 관리 + 다언어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3529584" y="2633472"/>
            <a:ext cx="91440" cy="91440"/>
          </a:xfrm>
          <a:prstGeom prst="ellipse">
            <a:avLst/>
          </a:prstGeom>
          <a:solidFill>
            <a:srgbClr val="27C887"/>
          </a:solidFill>
          <a:ln w="12700">
            <a:solidFill>
              <a:srgbClr val="27C88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85032" y="2560320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ADCFC"/>
                </a:solidFill>
              </a:rPr>
              <a:t>C / C++ 고성능 서버 에이전트 추가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529584" y="3090672"/>
            <a:ext cx="91440" cy="91440"/>
          </a:xfrm>
          <a:prstGeom prst="ellipse">
            <a:avLst/>
          </a:prstGeom>
          <a:solidFill>
            <a:srgbClr val="27C887"/>
          </a:solidFill>
          <a:ln w="12700">
            <a:solidFill>
              <a:srgbClr val="27C88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85032" y="3017520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ADCFC"/>
                </a:solidFill>
              </a:rPr>
              <a:t>에이전트 CRUD 웹 관리 UI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529584" y="3547872"/>
            <a:ext cx="91440" cy="91440"/>
          </a:xfrm>
          <a:prstGeom prst="ellipse">
            <a:avLst/>
          </a:prstGeom>
          <a:solidFill>
            <a:srgbClr val="27C887"/>
          </a:solidFill>
          <a:ln w="12700">
            <a:solidFill>
              <a:srgbClr val="27C88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85032" y="3474720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ADCFC"/>
                </a:solidFill>
              </a:rPr>
              <a:t>OpenTelemetry 비용 대시보드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529584" y="4005072"/>
            <a:ext cx="91440" cy="91440"/>
          </a:xfrm>
          <a:prstGeom prst="ellipse">
            <a:avLst/>
          </a:prstGeom>
          <a:solidFill>
            <a:srgbClr val="27C887"/>
          </a:solidFill>
          <a:ln w="12700">
            <a:solidFill>
              <a:srgbClr val="27C88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85032" y="3931920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ADCFC"/>
                </a:solidFill>
              </a:rPr>
              <a:t>WebSocket 실시간 로그 스트리밍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3529584" y="4462272"/>
            <a:ext cx="91440" cy="91440"/>
          </a:xfrm>
          <a:prstGeom prst="ellipse">
            <a:avLst/>
          </a:prstGeom>
          <a:solidFill>
            <a:srgbClr val="27C887"/>
          </a:solidFill>
          <a:ln w="12700">
            <a:solidFill>
              <a:srgbClr val="27C88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85032" y="4389120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ADCFC"/>
                </a:solidFill>
              </a:rPr>
              <a:t>Git 저장소 자동 Push 연동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272784" y="1508760"/>
            <a:ext cx="2743200" cy="3383280"/>
          </a:xfrm>
          <a:prstGeom prst="rect">
            <a:avLst/>
          </a:prstGeom>
          <a:solidFill>
            <a:srgbClr val="243160"/>
          </a:solidFill>
          <a:ln w="19050">
            <a:solidFill>
              <a:srgbClr val="F9C74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272784" y="1508760"/>
            <a:ext cx="2743200" cy="73152"/>
          </a:xfrm>
          <a:prstGeom prst="rect">
            <a:avLst/>
          </a:prstGeom>
          <a:solidFill>
            <a:srgbClr val="F9C74F"/>
          </a:solidFill>
          <a:ln w="12700">
            <a:solidFill>
              <a:srgbClr val="F9C74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09944" y="158191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9C74F"/>
                </a:solidFill>
              </a:rPr>
              <a:t>Phase 3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409944" y="181051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B8D8"/>
                </a:solidFill>
              </a:rPr>
              <a:t>3~6개월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409944" y="2084832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도메인 심화 + MCP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6437376" y="2633472"/>
            <a:ext cx="91440" cy="91440"/>
          </a:xfrm>
          <a:prstGeom prst="ellipse">
            <a:avLst/>
          </a:prstGeom>
          <a:solidFill>
            <a:srgbClr val="F9C74F"/>
          </a:solidFill>
          <a:ln w="12700">
            <a:solidFill>
              <a:srgbClr val="F9C74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592824" y="2560320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ADCFC"/>
                </a:solidFill>
              </a:rPr>
              <a:t>금융·공공·B2B 에이전트 특화 패키지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6437376" y="3090672"/>
            <a:ext cx="91440" cy="91440"/>
          </a:xfrm>
          <a:prstGeom prst="ellipse">
            <a:avLst/>
          </a:prstGeom>
          <a:solidFill>
            <a:srgbClr val="F9C74F"/>
          </a:solidFill>
          <a:ln w="12700">
            <a:solidFill>
              <a:srgbClr val="F9C74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592824" y="3017520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ADCFC"/>
                </a:solidFill>
              </a:rPr>
              <a:t>MCP (GitHub, Jira, Slack) 연동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6437376" y="3547872"/>
            <a:ext cx="91440" cy="91440"/>
          </a:xfrm>
          <a:prstGeom prst="ellipse">
            <a:avLst/>
          </a:prstGeom>
          <a:solidFill>
            <a:srgbClr val="F9C74F"/>
          </a:solidFill>
          <a:ln w="12700">
            <a:solidFill>
              <a:srgbClr val="F9C74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592824" y="3474720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ADCFC"/>
                </a:solidFill>
              </a:rPr>
              <a:t>Plugin 마켓플레이스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6437376" y="4005072"/>
            <a:ext cx="91440" cy="91440"/>
          </a:xfrm>
          <a:prstGeom prst="ellipse">
            <a:avLst/>
          </a:prstGeom>
          <a:solidFill>
            <a:srgbClr val="F9C74F"/>
          </a:solidFill>
          <a:ln w="12700">
            <a:solidFill>
              <a:srgbClr val="F9C74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592824" y="3931920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ADCFC"/>
                </a:solidFill>
              </a:rPr>
              <a:t>멀티 사용자 워크스페이스 격리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6437376" y="4462272"/>
            <a:ext cx="91440" cy="91440"/>
          </a:xfrm>
          <a:prstGeom prst="ellipse">
            <a:avLst/>
          </a:prstGeom>
          <a:solidFill>
            <a:srgbClr val="F9C74F"/>
          </a:solidFill>
          <a:ln w="12700">
            <a:solidFill>
              <a:srgbClr val="F9C74F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592824" y="4389120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ADCFC"/>
                </a:solidFill>
              </a:rPr>
              <a:t>폐쇄망 KT DS 특화 배포 패키지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1828800"/>
            <a:ext cx="4572000" cy="4572000"/>
          </a:xfrm>
          <a:prstGeom prst="ellipse">
            <a:avLst/>
          </a:prstGeom>
          <a:solidFill>
            <a:srgbClr val="2E3D78">
              <a:alpha val="25000"/>
            </a:srgbClr>
          </a:solidFill>
          <a:ln w="12700">
            <a:solidFill>
              <a:srgbClr val="2E3D7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-457200"/>
            <a:ext cx="3657600" cy="3657600"/>
          </a:xfrm>
          <a:prstGeom prst="ellipse">
            <a:avLst/>
          </a:prstGeom>
          <a:solidFill>
            <a:srgbClr val="4F9CF9">
              <a:alpha val="15000"/>
            </a:srgbClr>
          </a:solidFill>
          <a:ln w="12700">
            <a:solidFill>
              <a:srgbClr val="4F9CF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37160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8B8D8"/>
                </a:solidFill>
              </a:rPr>
              <a:t>Claude Agent 관리 플랫폼 v2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1920240"/>
            <a:ext cx="7680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말하면 만들어주고,</a:t>
            </a:r>
            <a:endParaRPr lang="en-US" sz="36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승인하면 코드가 된다.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731520" y="338328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F9CF9"/>
                </a:solidFill>
              </a:rPr>
              <a:t>대화 수집 · 기술 스택 선택 · 사용자 승인 게이트 · 다언어 Agent 팀 · POC 코드 자동 생성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Claude Agent 관리 플랫폼 v2</dc:title>
  <dc:subject>PptxGenJS Presentation</dc:subject>
  <dc:creator>PptxGenJS</dc:creator>
  <cp:lastModifiedBy>PptxGenJS</cp:lastModifiedBy>
  <cp:revision>1</cp:revision>
  <dcterms:created xsi:type="dcterms:W3CDTF">2026-05-13T07:37:30Z</dcterms:created>
  <dcterms:modified xsi:type="dcterms:W3CDTF">2026-05-13T07:37:30Z</dcterms:modified>
</cp:coreProperties>
</file>